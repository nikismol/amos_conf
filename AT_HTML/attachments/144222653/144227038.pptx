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65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5F18E-ACCD-44A8-8FA3-0043962BB38D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3FADE-7653-47DA-91D6-53A46749C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92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77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647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88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835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89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002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FADE-7653-47DA-91D6-53A46749CDE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27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302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02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02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37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1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12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62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11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34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95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3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ED2BD-8261-4962-9CDE-80F77D23A638}" type="datetimeFigureOut">
              <a:rPr lang="ru-RU" smtClean="0"/>
              <a:t>25.08.2021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331B-A520-4E00-ACC4-968EB5992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10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omg@aeroflot.r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60094" y="1840831"/>
            <a:ext cx="9144000" cy="1828801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br>
              <a:rPr lang="ru-RU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Автоматизация процессов таможенного оформления в системе </a:t>
            </a:r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 ERP</a:t>
            </a:r>
            <a:endParaRPr lang="ru-RU" sz="3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9" descr="aeroflo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89" y="6125965"/>
            <a:ext cx="2234969" cy="60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 descr="C:\Users\Kokorin Ilya\Desktop\ramax_logo2.pn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339" y="6244389"/>
            <a:ext cx="1794735" cy="48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1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Обработка таможенных деклараций в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ZCSTM</a:t>
            </a:r>
            <a:endParaRPr lang="ru-RU" sz="4400" dirty="0">
              <a:latin typeface="+mj-lt"/>
              <a:ea typeface="+mj-ea"/>
              <a:cs typeface="+mj-cs"/>
            </a:endParaRPr>
          </a:p>
          <a:p>
            <a:pPr marL="457200" lvl="1" indent="0">
              <a:buNone/>
            </a:pPr>
            <a:endParaRPr lang="ru-RU" dirty="0" smtClean="0"/>
          </a:p>
          <a:p>
            <a:pPr marL="1371600" lvl="3" indent="0">
              <a:buNone/>
            </a:pPr>
            <a:r>
              <a:rPr lang="ru-RU" sz="2400" b="1" dirty="0" smtClean="0"/>
              <a:t>Декларации со статусом «Не обработано»</a:t>
            </a:r>
          </a:p>
          <a:p>
            <a:pPr lvl="4"/>
            <a:r>
              <a:rPr lang="ru-RU" sz="2400" dirty="0" smtClean="0"/>
              <a:t>Желтые позиции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Нет поставки в системе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Несоответствие поставки и позиции ДТ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Не определен ОЗМ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Не совпадают ЕИЗ</a:t>
            </a:r>
            <a:endParaRPr lang="en-US" sz="2400" dirty="0" smtClean="0"/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Нужен </a:t>
            </a:r>
            <a:r>
              <a:rPr lang="ru-RU" sz="2400" dirty="0"/>
              <a:t>перезапуск позиции (10131010/200621/0399339)</a:t>
            </a:r>
            <a:endParaRPr lang="ru-RU" sz="2400" dirty="0" smtClean="0"/>
          </a:p>
          <a:p>
            <a:pPr lvl="4"/>
            <a:r>
              <a:rPr lang="ru-RU" sz="2400" dirty="0" smtClean="0"/>
              <a:t>Зеленые позиции (неверно привязана поставка) 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Выбран неверно ОЗМ при привязке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ru-RU" sz="2400" dirty="0" smtClean="0"/>
              <a:t>Поставок в системе несколько, привязали по той, по которой нет ДМ</a:t>
            </a:r>
          </a:p>
          <a:p>
            <a:pPr marL="1828800" lvl="3" indent="-457200">
              <a:buFont typeface="+mj-lt"/>
              <a:buAutoNum type="arabicPeriod"/>
            </a:pPr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38" y="2394352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8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«Не обработано»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ru-RU" sz="2800" b="1" dirty="0" smtClean="0"/>
              <a:t>Желтые позиции</a:t>
            </a:r>
          </a:p>
          <a:p>
            <a:pPr lvl="5"/>
            <a:r>
              <a:rPr lang="ru-RU" sz="2400" dirty="0" smtClean="0"/>
              <a:t>Нет поставки в системе</a:t>
            </a:r>
          </a:p>
          <a:p>
            <a:pPr lvl="6">
              <a:buFont typeface="Wingdings" panose="05000000000000000000" pitchFamily="2" charset="2"/>
              <a:buChar char="§"/>
            </a:pPr>
            <a:r>
              <a:rPr lang="ru-RU" sz="2400" dirty="0" smtClean="0"/>
              <a:t>Отсутствует </a:t>
            </a:r>
            <a:r>
              <a:rPr lang="en-US" sz="2400" dirty="0" smtClean="0"/>
              <a:t>AWB </a:t>
            </a:r>
            <a:r>
              <a:rPr lang="ru-RU" sz="2400" dirty="0" smtClean="0"/>
              <a:t>в системе у поставки либо она некорректно записана в поставке. </a:t>
            </a:r>
          </a:p>
          <a:p>
            <a:pPr lvl="6"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 marL="2743200" lvl="6" indent="0">
              <a:buNone/>
            </a:pPr>
            <a:endParaRPr lang="ru-RU" sz="2400" dirty="0" smtClean="0"/>
          </a:p>
          <a:p>
            <a:pPr marL="1828800" lvl="3" indent="-457200">
              <a:buFont typeface="+mj-lt"/>
              <a:buAutoNum type="arabicPeriod"/>
            </a:pPr>
            <a:r>
              <a:rPr lang="ru-RU" dirty="0" smtClean="0"/>
              <a:t>Если есть серийный номер у позиции, копируем -</a:t>
            </a:r>
            <a:r>
              <a:rPr lang="en-US" dirty="0" smtClean="0"/>
              <a:t>&gt; </a:t>
            </a:r>
            <a:r>
              <a:rPr lang="ru-RU" dirty="0" smtClean="0"/>
              <a:t>Смотрим в</a:t>
            </a:r>
            <a:r>
              <a:rPr lang="en-US" dirty="0" smtClean="0"/>
              <a:t> IQ03 </a:t>
            </a:r>
            <a:r>
              <a:rPr lang="ru-RU" dirty="0" smtClean="0"/>
              <a:t>и по дате ГТД примерно находим поставку или ДМ со 101 </a:t>
            </a:r>
            <a:r>
              <a:rPr lang="ru-RU" dirty="0" smtClean="0"/>
              <a:t>ВДВ</a:t>
            </a:r>
            <a:r>
              <a:rPr lang="en-US" dirty="0" smtClean="0"/>
              <a:t> -&gt; </a:t>
            </a:r>
            <a:r>
              <a:rPr lang="ru-RU" dirty="0" smtClean="0"/>
              <a:t>ищем через поставку заказ и сверяем с </a:t>
            </a:r>
            <a:r>
              <a:rPr lang="en-US" dirty="0" smtClean="0"/>
              <a:t>AMOS AWB </a:t>
            </a:r>
            <a:r>
              <a:rPr lang="ru-RU" dirty="0" smtClean="0"/>
              <a:t>в поставке </a:t>
            </a:r>
            <a:r>
              <a:rPr lang="en-US" dirty="0" smtClean="0"/>
              <a:t>AMOS </a:t>
            </a:r>
            <a:r>
              <a:rPr lang="ru-RU" dirty="0" smtClean="0"/>
              <a:t>совпадает с ДТ.</a:t>
            </a:r>
          </a:p>
          <a:p>
            <a:pPr marL="1828800" lvl="3" indent="-457200">
              <a:buFont typeface="+mj-lt"/>
              <a:buAutoNum type="arabicPeriod"/>
            </a:pPr>
            <a:r>
              <a:rPr lang="ru-RU" dirty="0" smtClean="0"/>
              <a:t>Либо сразу с</a:t>
            </a:r>
            <a:r>
              <a:rPr lang="ru-RU" dirty="0" smtClean="0"/>
              <a:t> </a:t>
            </a:r>
            <a:r>
              <a:rPr lang="ru-RU" dirty="0" err="1" smtClean="0"/>
              <a:t>серийником</a:t>
            </a:r>
            <a:r>
              <a:rPr lang="ru-RU" dirty="0" smtClean="0"/>
              <a:t> /партийным номером смотрим в </a:t>
            </a:r>
            <a:r>
              <a:rPr lang="en-US" dirty="0" smtClean="0"/>
              <a:t>AMOS</a:t>
            </a:r>
            <a:r>
              <a:rPr lang="ru-RU" dirty="0" smtClean="0"/>
              <a:t> (1498) поступления по </a:t>
            </a:r>
            <a:r>
              <a:rPr lang="en-US" dirty="0" smtClean="0"/>
              <a:t>AWB</a:t>
            </a:r>
            <a:r>
              <a:rPr lang="ru-RU" dirty="0" smtClean="0"/>
              <a:t>, которая указана в декларации </a:t>
            </a:r>
          </a:p>
          <a:p>
            <a:pPr marL="1828800" lvl="3" indent="-457200">
              <a:buFont typeface="+mj-lt"/>
              <a:buAutoNum type="arabicPeriod"/>
            </a:pPr>
            <a:r>
              <a:rPr lang="ru-RU" dirty="0" smtClean="0"/>
              <a:t>В найденной поставке </a:t>
            </a:r>
            <a:r>
              <a:rPr lang="en-US" dirty="0" smtClean="0"/>
              <a:t>SAP (</a:t>
            </a:r>
            <a:r>
              <a:rPr lang="ru-RU" dirty="0" smtClean="0"/>
              <a:t>ищу обычно по заказу </a:t>
            </a:r>
            <a:r>
              <a:rPr lang="en-US" dirty="0" smtClean="0"/>
              <a:t>EKKO-ZZ_PO</a:t>
            </a:r>
            <a:r>
              <a:rPr lang="en-US" dirty="0" smtClean="0"/>
              <a:t>)</a:t>
            </a:r>
            <a:r>
              <a:rPr lang="ru-RU" dirty="0" smtClean="0"/>
              <a:t> записываем </a:t>
            </a:r>
            <a:r>
              <a:rPr lang="en-US" dirty="0" smtClean="0"/>
              <a:t>AWB </a:t>
            </a:r>
            <a:r>
              <a:rPr lang="ru-RU" dirty="0" smtClean="0"/>
              <a:t>если точно уверены, что она по каким-то причинам не интегрирована в </a:t>
            </a:r>
            <a:r>
              <a:rPr lang="en-US" dirty="0" smtClean="0"/>
              <a:t>SAP. </a:t>
            </a:r>
            <a:r>
              <a:rPr lang="ru-RU" dirty="0" smtClean="0"/>
              <a:t>Если не уверены -</a:t>
            </a:r>
            <a:r>
              <a:rPr lang="en-US" dirty="0" smtClean="0"/>
              <a:t>&gt; </a:t>
            </a:r>
            <a:r>
              <a:rPr lang="ru-RU" dirty="0" smtClean="0"/>
              <a:t>пишем в </a:t>
            </a:r>
            <a:r>
              <a:rPr lang="en-US" dirty="0" smtClean="0"/>
              <a:t>procurement </a:t>
            </a:r>
            <a:r>
              <a:rPr lang="ru-RU" dirty="0" smtClean="0"/>
              <a:t>или в </a:t>
            </a:r>
            <a:r>
              <a:rPr lang="en-US" dirty="0" smtClean="0"/>
              <a:t>omg </a:t>
            </a:r>
            <a:r>
              <a:rPr lang="en-US" u="sng" dirty="0" err="1">
                <a:hlinkClick r:id="rId3"/>
              </a:rPr>
              <a:t>omg</a:t>
            </a:r>
            <a:r>
              <a:rPr lang="ru-RU" u="sng" dirty="0">
                <a:hlinkClick r:id="rId3"/>
              </a:rPr>
              <a:t>@</a:t>
            </a:r>
            <a:r>
              <a:rPr lang="en-US" u="sng" dirty="0" err="1">
                <a:hlinkClick r:id="rId3"/>
              </a:rPr>
              <a:t>aeroflot</a:t>
            </a:r>
            <a:r>
              <a:rPr lang="ru-RU" u="sng" dirty="0">
                <a:hlinkClick r:id="rId3"/>
              </a:rPr>
              <a:t>.</a:t>
            </a:r>
            <a:r>
              <a:rPr lang="en-US" u="sng" dirty="0" err="1" smtClean="0">
                <a:hlinkClick r:id="rId3"/>
              </a:rPr>
              <a:t>ru</a:t>
            </a:r>
            <a:r>
              <a:rPr lang="en-US" dirty="0"/>
              <a:t> </a:t>
            </a:r>
            <a:r>
              <a:rPr lang="en-US" dirty="0" smtClean="0"/>
              <a:t>(t-</a:t>
            </a:r>
            <a:r>
              <a:rPr lang="ru-RU" dirty="0" smtClean="0"/>
              <a:t>заказы</a:t>
            </a:r>
            <a:r>
              <a:rPr lang="en-US" dirty="0" smtClean="0"/>
              <a:t>)</a:t>
            </a:r>
            <a:r>
              <a:rPr lang="ru-RU" dirty="0" smtClean="0"/>
              <a:t> по какому заказу/поставке была поставка по декларации-позиции с номером </a:t>
            </a:r>
            <a:r>
              <a:rPr lang="en-US" dirty="0" smtClean="0"/>
              <a:t>AWB</a:t>
            </a:r>
            <a:endParaRPr lang="ru-RU" dirty="0" smtClean="0"/>
          </a:p>
          <a:p>
            <a:pPr marL="1828800" lvl="3" indent="-457200">
              <a:buFont typeface="+mj-lt"/>
              <a:buAutoNum type="arabicPeriod"/>
            </a:pPr>
            <a:r>
              <a:rPr lang="ru-RU" dirty="0" smtClean="0"/>
              <a:t>По </a:t>
            </a:r>
            <a:r>
              <a:rPr lang="ru-RU" dirty="0" smtClean="0"/>
              <a:t>отправителю/получателю и описанию товара можно понять, что это «без заказа</a:t>
            </a:r>
            <a:r>
              <a:rPr lang="ru-RU" dirty="0" smtClean="0"/>
              <a:t>» (аэрофлот-аэрофлот либо </a:t>
            </a:r>
            <a:r>
              <a:rPr lang="en-US" dirty="0" smtClean="0"/>
              <a:t>representation-</a:t>
            </a:r>
            <a:r>
              <a:rPr lang="ru-RU" dirty="0" smtClean="0"/>
              <a:t>аэрофлот) </a:t>
            </a:r>
            <a:r>
              <a:rPr lang="ru-RU" dirty="0" smtClean="0"/>
              <a:t>-</a:t>
            </a:r>
            <a:r>
              <a:rPr lang="en-US" dirty="0" smtClean="0"/>
              <a:t>&gt; </a:t>
            </a:r>
            <a:r>
              <a:rPr lang="ru-RU" dirty="0" smtClean="0"/>
              <a:t>уточнить Светы Барановой/Лены Фроловой кому </a:t>
            </a:r>
            <a:r>
              <a:rPr lang="ru-RU" dirty="0" smtClean="0"/>
              <a:t>в </a:t>
            </a:r>
            <a:r>
              <a:rPr lang="ru-RU" dirty="0" smtClean="0"/>
              <a:t>ДУЗД </a:t>
            </a:r>
            <a:r>
              <a:rPr lang="ru-RU" dirty="0" smtClean="0"/>
              <a:t>написать обработать  </a:t>
            </a:r>
            <a:r>
              <a:rPr lang="ru-RU" dirty="0" smtClean="0"/>
              <a:t>ДТ. </a:t>
            </a:r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62" y="3865519"/>
            <a:ext cx="489559" cy="48955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047" y="2783128"/>
            <a:ext cx="7463570" cy="2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0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«Не обработано»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ru-RU" sz="2800" b="1" dirty="0" smtClean="0"/>
              <a:t>Желтые позиции</a:t>
            </a:r>
          </a:p>
          <a:p>
            <a:pPr lvl="5"/>
            <a:r>
              <a:rPr lang="ru-RU" sz="2400" dirty="0" smtClean="0"/>
              <a:t>Несоответствие поставки и позиции ДТ</a:t>
            </a:r>
          </a:p>
          <a:p>
            <a:pPr lvl="6"/>
            <a:r>
              <a:rPr lang="ru-RU" sz="2400" dirty="0" smtClean="0"/>
              <a:t>Поставка разделена/объединена и не совпадает из-за этого с позицией ДТ (п-р 10005030/040621/0266512 (5,6)). Ставим </a:t>
            </a:r>
            <a:r>
              <a:rPr lang="en-US" sz="2400" dirty="0" smtClean="0"/>
              <a:t>ZGTD c </a:t>
            </a:r>
            <a:r>
              <a:rPr lang="ru-RU" sz="2400" dirty="0" smtClean="0"/>
              <a:t>указанием какие позиции к какой поставке относятся.</a:t>
            </a:r>
          </a:p>
          <a:p>
            <a:pPr lvl="5"/>
            <a:r>
              <a:rPr lang="ru-RU" sz="2400" dirty="0" smtClean="0"/>
              <a:t>Не определен ОЗМ</a:t>
            </a:r>
          </a:p>
          <a:p>
            <a:pPr lvl="6"/>
            <a:r>
              <a:rPr lang="ru-RU" sz="2400" dirty="0" smtClean="0"/>
              <a:t>Открываем карточку </a:t>
            </a:r>
            <a:r>
              <a:rPr lang="en-US" sz="2400" dirty="0" smtClean="0"/>
              <a:t>AWB </a:t>
            </a:r>
            <a:r>
              <a:rPr lang="ru-RU" sz="2400" dirty="0" smtClean="0"/>
              <a:t>и если есть подходящий ОЗМ (чаще всего </a:t>
            </a:r>
            <a:r>
              <a:rPr lang="en-US" sz="2400" dirty="0" smtClean="0"/>
              <a:t>O </a:t>
            </a:r>
            <a:r>
              <a:rPr lang="ru-RU" sz="2400" dirty="0" smtClean="0"/>
              <a:t>должен был измениться на 0 либо ДТ раньше была загружена, чем создан ОЗМ в </a:t>
            </a:r>
            <a:r>
              <a:rPr lang="en-US" sz="2400" dirty="0" smtClean="0"/>
              <a:t>SAP</a:t>
            </a:r>
            <a:r>
              <a:rPr lang="ru-RU" sz="2400" dirty="0" smtClean="0"/>
              <a:t>) -</a:t>
            </a:r>
            <a:r>
              <a:rPr lang="en-US" sz="2400" dirty="0" smtClean="0"/>
              <a:t>&gt; </a:t>
            </a:r>
            <a:r>
              <a:rPr lang="ru-RU" sz="2400" dirty="0" smtClean="0"/>
              <a:t>меняем</a:t>
            </a:r>
            <a:r>
              <a:rPr lang="en-US" sz="2400" dirty="0" smtClean="0"/>
              <a:t>. </a:t>
            </a:r>
            <a:endParaRPr lang="en-US" sz="2400" dirty="0"/>
          </a:p>
          <a:p>
            <a:pPr lvl="6"/>
            <a:r>
              <a:rPr lang="ru-RU" sz="2400" dirty="0" smtClean="0"/>
              <a:t>Если по виду – это альтернативный – смотрим взаимозаменяемость в </a:t>
            </a:r>
            <a:r>
              <a:rPr lang="en-US" sz="2400" dirty="0" smtClean="0"/>
              <a:t>PIC03</a:t>
            </a:r>
            <a:r>
              <a:rPr lang="ru-RU" sz="2400" dirty="0"/>
              <a:t> </a:t>
            </a:r>
            <a:r>
              <a:rPr lang="ru-RU" sz="2400" dirty="0" smtClean="0"/>
              <a:t>(желательно убедиться в </a:t>
            </a:r>
            <a:r>
              <a:rPr lang="en-US" sz="2400" dirty="0" smtClean="0"/>
              <a:t>AMOS</a:t>
            </a:r>
            <a:r>
              <a:rPr lang="ru-RU" sz="2400" dirty="0" smtClean="0"/>
              <a:t>, что правда по заказу пришла замена), если все </a:t>
            </a:r>
            <a:r>
              <a:rPr lang="ru-RU" sz="2400" dirty="0" err="1" smtClean="0"/>
              <a:t>ок</a:t>
            </a:r>
            <a:r>
              <a:rPr lang="ru-RU" sz="2400" dirty="0" smtClean="0"/>
              <a:t> -</a:t>
            </a:r>
            <a:r>
              <a:rPr lang="en-US" sz="2400" dirty="0" smtClean="0"/>
              <a:t>&gt; </a:t>
            </a:r>
            <a:r>
              <a:rPr lang="ru-RU" sz="2400" dirty="0" smtClean="0"/>
              <a:t>меняем</a:t>
            </a:r>
          </a:p>
          <a:p>
            <a:pPr lvl="6"/>
            <a:r>
              <a:rPr lang="ru-RU" sz="2400" dirty="0" smtClean="0"/>
              <a:t>Если взаимозаменяемость есть в </a:t>
            </a:r>
            <a:r>
              <a:rPr lang="en-US" sz="2400" dirty="0" smtClean="0"/>
              <a:t>AMOS</a:t>
            </a:r>
            <a:r>
              <a:rPr lang="ru-RU" sz="2400" dirty="0" smtClean="0"/>
              <a:t> (59 </a:t>
            </a:r>
            <a:r>
              <a:rPr lang="en-US" sz="2400" dirty="0" smtClean="0"/>
              <a:t>APN</a:t>
            </a:r>
            <a:r>
              <a:rPr lang="ru-RU" sz="2400" dirty="0" smtClean="0"/>
              <a:t>), а в </a:t>
            </a:r>
            <a:r>
              <a:rPr lang="en-US" sz="2400" dirty="0" smtClean="0"/>
              <a:t>SAP </a:t>
            </a:r>
            <a:r>
              <a:rPr lang="ru-RU" sz="2400" dirty="0" smtClean="0"/>
              <a:t>нет -</a:t>
            </a:r>
            <a:r>
              <a:rPr lang="en-US" sz="2400" dirty="0" smtClean="0"/>
              <a:t>&gt; </a:t>
            </a:r>
            <a:r>
              <a:rPr lang="ru-RU" sz="2400" dirty="0" smtClean="0"/>
              <a:t>пишем </a:t>
            </a:r>
            <a:r>
              <a:rPr lang="ru-RU" sz="2400" dirty="0" err="1" smtClean="0"/>
              <a:t>Иконостасову</a:t>
            </a:r>
            <a:r>
              <a:rPr lang="ru-RU" sz="2400" dirty="0" smtClean="0"/>
              <a:t> Юре</a:t>
            </a:r>
          </a:p>
          <a:p>
            <a:pPr lvl="6"/>
            <a:r>
              <a:rPr lang="ru-RU" sz="2400" dirty="0" smtClean="0"/>
              <a:t>Если нет взаимозаменяемости, а поставка вроде подходит пишем Юре вопрос, должна ли быть взаимозаменяемость, а в </a:t>
            </a:r>
            <a:r>
              <a:rPr lang="en-US" sz="2400" dirty="0" smtClean="0"/>
              <a:t>procurement/omg </a:t>
            </a:r>
            <a:r>
              <a:rPr lang="ru-RU" sz="2400" dirty="0" smtClean="0"/>
              <a:t>вопрос почему заказ и поставка не соотв.</a:t>
            </a:r>
            <a:endParaRPr lang="en-US" sz="2400" dirty="0" smtClean="0"/>
          </a:p>
          <a:p>
            <a:pPr marL="2743200" lvl="6" indent="0">
              <a:buNone/>
            </a:pPr>
            <a:endParaRPr lang="ru-RU" sz="2400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62" y="3865519"/>
            <a:ext cx="489559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9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«Не обработано»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ru-RU" sz="2800" b="1" dirty="0" smtClean="0"/>
              <a:t>Желтые позиции</a:t>
            </a:r>
          </a:p>
          <a:p>
            <a:pPr lvl="5"/>
            <a:r>
              <a:rPr lang="ru-RU" sz="2400" dirty="0" smtClean="0"/>
              <a:t>Несоответствие поставки и позиции ДТ</a:t>
            </a:r>
          </a:p>
          <a:p>
            <a:pPr lvl="6"/>
            <a:r>
              <a:rPr lang="ru-RU" sz="2400" dirty="0" smtClean="0"/>
              <a:t>Поставка разделена/объединена и не совпадает из-за этого с позицией ДТ (п-р 10005030/040621/0266512 (5,6))</a:t>
            </a:r>
          </a:p>
          <a:p>
            <a:pPr lvl="5"/>
            <a:endParaRPr lang="ru-RU" sz="2400" dirty="0" smtClean="0"/>
          </a:p>
          <a:p>
            <a:pPr lvl="5"/>
            <a:r>
              <a:rPr lang="ru-RU" sz="2400" dirty="0" smtClean="0"/>
              <a:t>Не определен ОЗМ</a:t>
            </a:r>
          </a:p>
          <a:p>
            <a:pPr lvl="6"/>
            <a:r>
              <a:rPr lang="ru-RU" sz="2400" dirty="0" smtClean="0"/>
              <a:t>Открываем карточку </a:t>
            </a:r>
            <a:r>
              <a:rPr lang="en-US" sz="2400" dirty="0" smtClean="0"/>
              <a:t>AWB </a:t>
            </a:r>
            <a:r>
              <a:rPr lang="ru-RU" sz="2400" dirty="0" smtClean="0"/>
              <a:t>и если есть подходящий ОЗМ (чаще всего </a:t>
            </a:r>
            <a:r>
              <a:rPr lang="en-US" sz="2400" dirty="0" smtClean="0"/>
              <a:t>O </a:t>
            </a:r>
            <a:r>
              <a:rPr lang="ru-RU" sz="2400" dirty="0" smtClean="0"/>
              <a:t>должен был измениться на 0 либо ДТ раньше была загружена, чем создан ОЗМ в </a:t>
            </a:r>
            <a:r>
              <a:rPr lang="en-US" sz="2400" dirty="0" smtClean="0"/>
              <a:t>SAP</a:t>
            </a:r>
            <a:r>
              <a:rPr lang="ru-RU" sz="2400" dirty="0" smtClean="0"/>
              <a:t>) -</a:t>
            </a:r>
            <a:r>
              <a:rPr lang="en-US" sz="2400" dirty="0" smtClean="0"/>
              <a:t>&gt; </a:t>
            </a:r>
            <a:r>
              <a:rPr lang="ru-RU" sz="2400" dirty="0" smtClean="0"/>
              <a:t>меняем</a:t>
            </a:r>
            <a:r>
              <a:rPr lang="en-US" sz="2400" dirty="0" smtClean="0"/>
              <a:t>. </a:t>
            </a:r>
            <a:r>
              <a:rPr lang="ru-RU" sz="2400" dirty="0"/>
              <a:t>10005030/020721/0321103</a:t>
            </a:r>
            <a:r>
              <a:rPr lang="en-US" sz="2400" dirty="0"/>
              <a:t> </a:t>
            </a:r>
          </a:p>
          <a:p>
            <a:pPr lvl="6"/>
            <a:endParaRPr lang="ru-RU" sz="2400" dirty="0" smtClean="0"/>
          </a:p>
          <a:p>
            <a:pPr lvl="6"/>
            <a:r>
              <a:rPr lang="ru-RU" sz="2400" dirty="0" smtClean="0"/>
              <a:t>Если по виду – это альтернативный – смотрим взаимозаменяемость в </a:t>
            </a:r>
            <a:r>
              <a:rPr lang="en-US" sz="2400" dirty="0" smtClean="0"/>
              <a:t>PIC03</a:t>
            </a:r>
            <a:r>
              <a:rPr lang="ru-RU" sz="2400" dirty="0"/>
              <a:t> </a:t>
            </a:r>
            <a:r>
              <a:rPr lang="ru-RU" sz="2400" dirty="0" smtClean="0"/>
              <a:t>(желательно убедиться в </a:t>
            </a:r>
            <a:r>
              <a:rPr lang="en-US" sz="2400" dirty="0" smtClean="0"/>
              <a:t>AMOS</a:t>
            </a:r>
            <a:r>
              <a:rPr lang="ru-RU" sz="2400" dirty="0" smtClean="0"/>
              <a:t>, что правда по заказу пришла замена), если все </a:t>
            </a:r>
            <a:r>
              <a:rPr lang="ru-RU" sz="2400" dirty="0" err="1" smtClean="0"/>
              <a:t>ок</a:t>
            </a:r>
            <a:r>
              <a:rPr lang="ru-RU" sz="2400" dirty="0" smtClean="0"/>
              <a:t> -</a:t>
            </a:r>
            <a:r>
              <a:rPr lang="en-US" sz="2400" dirty="0" smtClean="0"/>
              <a:t>&gt; </a:t>
            </a:r>
            <a:r>
              <a:rPr lang="ru-RU" sz="2400" dirty="0" smtClean="0"/>
              <a:t>меняем </a:t>
            </a:r>
            <a:r>
              <a:rPr lang="ru-RU" sz="2400" dirty="0"/>
              <a:t>10005030/110821/0400685 (1</a:t>
            </a:r>
            <a:r>
              <a:rPr lang="ru-RU" sz="2400" dirty="0" smtClean="0"/>
              <a:t>)</a:t>
            </a:r>
          </a:p>
          <a:p>
            <a:pPr lvl="6"/>
            <a:endParaRPr lang="ru-RU" sz="2400" dirty="0" smtClean="0"/>
          </a:p>
          <a:p>
            <a:pPr lvl="6"/>
            <a:r>
              <a:rPr lang="ru-RU" sz="2400" dirty="0" smtClean="0"/>
              <a:t>Если взаимозаменяемость есть в </a:t>
            </a:r>
            <a:r>
              <a:rPr lang="en-US" sz="2400" dirty="0" smtClean="0"/>
              <a:t>AMOS</a:t>
            </a:r>
            <a:r>
              <a:rPr lang="ru-RU" sz="2400" dirty="0" smtClean="0"/>
              <a:t> (59 </a:t>
            </a:r>
            <a:r>
              <a:rPr lang="en-US" sz="2400" dirty="0" smtClean="0"/>
              <a:t>APN</a:t>
            </a:r>
            <a:r>
              <a:rPr lang="ru-RU" sz="2400" dirty="0" smtClean="0"/>
              <a:t>), а в </a:t>
            </a:r>
            <a:r>
              <a:rPr lang="en-US" sz="2400" dirty="0" smtClean="0"/>
              <a:t>SAP </a:t>
            </a:r>
            <a:r>
              <a:rPr lang="ru-RU" sz="2400" dirty="0" smtClean="0"/>
              <a:t>нет -</a:t>
            </a:r>
            <a:r>
              <a:rPr lang="en-US" sz="2400" dirty="0" smtClean="0"/>
              <a:t>&gt; </a:t>
            </a:r>
            <a:r>
              <a:rPr lang="ru-RU" sz="2400" dirty="0" smtClean="0"/>
              <a:t>пишем </a:t>
            </a:r>
            <a:r>
              <a:rPr lang="ru-RU" sz="2400" dirty="0" err="1" smtClean="0"/>
              <a:t>Иконостасову</a:t>
            </a:r>
            <a:r>
              <a:rPr lang="ru-RU" sz="2400" dirty="0" smtClean="0"/>
              <a:t> Юре</a:t>
            </a:r>
          </a:p>
          <a:p>
            <a:pPr lvl="6"/>
            <a:r>
              <a:rPr lang="ru-RU" sz="2400" dirty="0" smtClean="0"/>
              <a:t>Если нет взаимозаменяемости, а поставка вроде подходит пишем Юре вопрос, должна ли быть взаимозаменяемость, а в </a:t>
            </a:r>
            <a:r>
              <a:rPr lang="en-US" sz="2400" dirty="0" smtClean="0"/>
              <a:t>procurement/omg </a:t>
            </a:r>
            <a:r>
              <a:rPr lang="ru-RU" sz="2400" dirty="0" smtClean="0"/>
              <a:t>вопрос почему заказ и поставка не соотв.</a:t>
            </a:r>
            <a:endParaRPr lang="en-US" sz="2400" dirty="0" smtClean="0"/>
          </a:p>
          <a:p>
            <a:pPr marL="2743200" lvl="6" indent="0">
              <a:buNone/>
            </a:pPr>
            <a:endParaRPr lang="ru-RU" sz="2400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62" y="3865519"/>
            <a:ext cx="489559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7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«Не обработано»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ru-RU" sz="2800" b="1" dirty="0" smtClean="0"/>
              <a:t>Желтые позиции</a:t>
            </a:r>
          </a:p>
          <a:p>
            <a:pPr lvl="5"/>
            <a:r>
              <a:rPr lang="ru-RU" sz="2400" dirty="0" smtClean="0"/>
              <a:t>Не совпадают ЕИЗ (10005030/170721/0350198)</a:t>
            </a:r>
          </a:p>
          <a:p>
            <a:pPr lvl="6"/>
            <a:r>
              <a:rPr lang="ru-RU" sz="2400" dirty="0" smtClean="0"/>
              <a:t>Проверяем описание и сверяем с </a:t>
            </a:r>
            <a:r>
              <a:rPr lang="en-US" sz="2400" dirty="0" smtClean="0"/>
              <a:t>AMOS. </a:t>
            </a:r>
          </a:p>
          <a:p>
            <a:pPr lvl="6"/>
            <a:r>
              <a:rPr lang="ru-RU" sz="2400" dirty="0" smtClean="0"/>
              <a:t>Уточняем в </a:t>
            </a:r>
            <a:r>
              <a:rPr lang="en-US" sz="2400" dirty="0" smtClean="0"/>
              <a:t>procurement/omg </a:t>
            </a:r>
            <a:r>
              <a:rPr lang="ru-RU" sz="2400" dirty="0" smtClean="0"/>
              <a:t>соотв. ли ЕИЗ из ДТ и в поставке.</a:t>
            </a:r>
          </a:p>
          <a:p>
            <a:pPr lvl="6"/>
            <a:r>
              <a:rPr lang="ru-RU" sz="2400" dirty="0" smtClean="0"/>
              <a:t>После ответа - </a:t>
            </a:r>
            <a:r>
              <a:rPr lang="en-US" sz="2400" dirty="0" smtClean="0"/>
              <a:t>&gt; </a:t>
            </a:r>
            <a:r>
              <a:rPr lang="ru-RU" sz="2400" dirty="0" smtClean="0"/>
              <a:t>обрабатываем </a:t>
            </a:r>
            <a:r>
              <a:rPr lang="ru-RU" sz="2400" dirty="0" smtClean="0"/>
              <a:t>ДТ (кнопки СМЕНИТЬ ЕИЗ-</a:t>
            </a:r>
            <a:r>
              <a:rPr lang="en-US" sz="2400" dirty="0" smtClean="0"/>
              <a:t>&gt;</a:t>
            </a:r>
            <a:r>
              <a:rPr lang="ru-RU" sz="2400" dirty="0" smtClean="0"/>
              <a:t>Поиск Поставки-</a:t>
            </a:r>
            <a:r>
              <a:rPr lang="en-US" sz="2400" dirty="0"/>
              <a:t>&gt;</a:t>
            </a:r>
            <a:r>
              <a:rPr lang="ru-RU" sz="2400" dirty="0" smtClean="0"/>
              <a:t>Сохранить, если позиция зеленая</a:t>
            </a:r>
            <a:r>
              <a:rPr lang="ru-RU" sz="2400" dirty="0" smtClean="0"/>
              <a:t>)</a:t>
            </a:r>
            <a:endParaRPr lang="ru-RU" sz="2400" dirty="0" smtClean="0"/>
          </a:p>
          <a:p>
            <a:pPr lvl="5"/>
            <a:r>
              <a:rPr lang="ru-RU" sz="2400" dirty="0" smtClean="0"/>
              <a:t>Кол-во в позиции и поставке разное, но кол-во в ДМ и по позиции ДТ совпадают -</a:t>
            </a:r>
            <a:r>
              <a:rPr lang="en-US" sz="2400" dirty="0" smtClean="0"/>
              <a:t>&gt; </a:t>
            </a:r>
            <a:r>
              <a:rPr lang="ru-RU" sz="2400" dirty="0" smtClean="0"/>
              <a:t>уточняем в </a:t>
            </a:r>
            <a:r>
              <a:rPr lang="en-US" sz="2400" dirty="0" smtClean="0"/>
              <a:t>procurement/omg </a:t>
            </a:r>
            <a:r>
              <a:rPr lang="ru-RU" sz="2400" dirty="0" smtClean="0"/>
              <a:t>почему поставка </a:t>
            </a:r>
            <a:r>
              <a:rPr lang="ru-RU" sz="2400" dirty="0" err="1" smtClean="0"/>
              <a:t>несоотв</a:t>
            </a:r>
            <a:r>
              <a:rPr lang="ru-RU" sz="2400" dirty="0" smtClean="0"/>
              <a:t>. позиции ДТ. После ответа</a:t>
            </a:r>
            <a:r>
              <a:rPr lang="en-US" sz="2400" dirty="0" smtClean="0"/>
              <a:t> - &gt; </a:t>
            </a:r>
            <a:r>
              <a:rPr lang="ru-RU" sz="2400" dirty="0" smtClean="0"/>
              <a:t>обрабатываем ДТ </a:t>
            </a:r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62" y="3865519"/>
            <a:ext cx="489559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5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«Не обработано»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ru-RU" sz="2800" b="1" dirty="0" smtClean="0"/>
              <a:t>Желтые позиции</a:t>
            </a:r>
          </a:p>
          <a:p>
            <a:pPr lvl="5"/>
            <a:r>
              <a:rPr lang="ru-RU" sz="2400" dirty="0" smtClean="0"/>
              <a:t>Поставка привязана к другой позиции ДТ (проверить, что это не 45 заказ, если он, то пишем Свете Барановой или Фроловой Лене)</a:t>
            </a:r>
            <a:endParaRPr lang="ru-RU" sz="2400" dirty="0"/>
          </a:p>
          <a:p>
            <a:pPr lvl="6"/>
            <a:r>
              <a:rPr lang="ru-RU" sz="2400" dirty="0" smtClean="0"/>
              <a:t>Если по </a:t>
            </a:r>
            <a:r>
              <a:rPr lang="ru-RU" sz="2400" dirty="0" err="1" smtClean="0"/>
              <a:t>серийникам</a:t>
            </a:r>
            <a:r>
              <a:rPr lang="ru-RU" sz="2400" dirty="0" smtClean="0"/>
              <a:t> некорректно привязали -</a:t>
            </a:r>
            <a:r>
              <a:rPr lang="en-US" sz="2400" dirty="0" smtClean="0"/>
              <a:t>&gt; </a:t>
            </a:r>
            <a:r>
              <a:rPr lang="ru-RU" sz="2400" dirty="0" smtClean="0"/>
              <a:t>отвязываем и </a:t>
            </a:r>
            <a:r>
              <a:rPr lang="ru-RU" sz="2400" dirty="0" err="1" smtClean="0"/>
              <a:t>вручую</a:t>
            </a:r>
            <a:r>
              <a:rPr lang="ru-RU" sz="2400" dirty="0" smtClean="0"/>
              <a:t> привязываем к нужным серийным номерам.</a:t>
            </a:r>
          </a:p>
          <a:p>
            <a:pPr lvl="6"/>
            <a:r>
              <a:rPr lang="ru-RU" sz="2400" dirty="0" smtClean="0"/>
              <a:t>Если выбрали некорректно поставку -</a:t>
            </a:r>
            <a:r>
              <a:rPr lang="en-US" sz="2400" dirty="0" smtClean="0"/>
              <a:t>&gt; </a:t>
            </a:r>
            <a:r>
              <a:rPr lang="ru-RU" sz="2400" dirty="0" smtClean="0"/>
              <a:t>отвязываем -</a:t>
            </a:r>
            <a:r>
              <a:rPr lang="en-US" sz="2400" dirty="0" smtClean="0"/>
              <a:t>&gt; </a:t>
            </a:r>
            <a:r>
              <a:rPr lang="ru-RU" sz="2400" dirty="0" smtClean="0"/>
              <a:t>привязываем вручную, в др. позиции меняем ОЗМ, если при привязки ранее был неверно выбран</a:t>
            </a:r>
          </a:p>
          <a:p>
            <a:pPr lvl="5"/>
            <a:r>
              <a:rPr lang="ru-RU" sz="2400" dirty="0" smtClean="0"/>
              <a:t>Поставка привязана к другой ДТ. Смотрим, что нет ДКЗ. Нет-</a:t>
            </a:r>
            <a:r>
              <a:rPr lang="en-US" sz="2400" dirty="0" smtClean="0"/>
              <a:t>&gt; </a:t>
            </a:r>
            <a:r>
              <a:rPr lang="ru-RU" sz="2400" dirty="0" smtClean="0"/>
              <a:t>отвязываем –</a:t>
            </a:r>
            <a:r>
              <a:rPr lang="en-US" sz="2400" dirty="0" smtClean="0"/>
              <a:t>&gt; </a:t>
            </a:r>
            <a:r>
              <a:rPr lang="ru-RU" sz="2400" dirty="0" smtClean="0"/>
              <a:t>привязываем правильно.</a:t>
            </a:r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62" y="3865519"/>
            <a:ext cx="489559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/>
          <a:lstStyle/>
          <a:p>
            <a:pPr marL="0" indent="0">
              <a:buNone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Декларации со статусом «Создан ДКЗ»</a:t>
            </a:r>
            <a:endParaRPr lang="ru-RU" sz="4400" dirty="0">
              <a:latin typeface="+mj-lt"/>
              <a:ea typeface="+mj-ea"/>
              <a:cs typeface="+mj-cs"/>
            </a:endParaRPr>
          </a:p>
          <a:p>
            <a:pPr marL="1371600" lvl="3" indent="0">
              <a:buNone/>
            </a:pPr>
            <a:endParaRPr lang="ru-RU" sz="2400" dirty="0" smtClean="0"/>
          </a:p>
          <a:p>
            <a:pPr marL="1371600" lvl="3" indent="0">
              <a:buNone/>
            </a:pPr>
            <a:endParaRPr lang="ru-RU" sz="2400" dirty="0"/>
          </a:p>
          <a:p>
            <a:pPr marL="1371600" lvl="3" indent="0">
              <a:buNone/>
            </a:pPr>
            <a:r>
              <a:rPr lang="ru-RU" sz="2400" dirty="0" smtClean="0"/>
              <a:t>Проверяем</a:t>
            </a:r>
            <a:r>
              <a:rPr lang="ru-RU" sz="2400" dirty="0"/>
              <a:t> </a:t>
            </a:r>
            <a:r>
              <a:rPr lang="ru-RU" sz="2400" dirty="0" smtClean="0"/>
              <a:t>-</a:t>
            </a:r>
            <a:r>
              <a:rPr lang="ru-RU" sz="2400" dirty="0" smtClean="0"/>
              <a:t> </a:t>
            </a:r>
            <a:r>
              <a:rPr lang="ru-RU" sz="2400" dirty="0" smtClean="0"/>
              <a:t>ДКЗ проведен</a:t>
            </a:r>
            <a:r>
              <a:rPr lang="ru-RU" sz="2400" dirty="0"/>
              <a:t>? 10005030/210421/0182975</a:t>
            </a:r>
            <a:endParaRPr lang="ru-RU" sz="2400" dirty="0" smtClean="0"/>
          </a:p>
          <a:p>
            <a:pPr marL="1371600" lvl="3" indent="0">
              <a:buNone/>
            </a:pPr>
            <a:r>
              <a:rPr lang="ru-RU" sz="2400" dirty="0" smtClean="0"/>
              <a:t>Пишем ДБУ, чтобы удалили ДКЗ.</a:t>
            </a:r>
          </a:p>
          <a:p>
            <a:pPr marL="1371600" lvl="3" indent="0">
              <a:buNone/>
            </a:pPr>
            <a:r>
              <a:rPr lang="ru-RU" sz="2400" dirty="0" smtClean="0"/>
              <a:t>Отвязываем нужную позицию</a:t>
            </a:r>
          </a:p>
          <a:p>
            <a:pPr marL="1371600" lvl="3" indent="0">
              <a:buNone/>
            </a:pPr>
            <a:r>
              <a:rPr lang="ru-RU" sz="2400" dirty="0"/>
              <a:t>П</a:t>
            </a:r>
            <a:r>
              <a:rPr lang="ru-RU" sz="2400" dirty="0" smtClean="0"/>
              <a:t>ривязываем вручную (можно через кнопку Перезапуск).</a:t>
            </a:r>
            <a:endParaRPr lang="ru-RU" sz="2400" dirty="0" smtClean="0"/>
          </a:p>
          <a:p>
            <a:pPr marL="1828800" lvl="3" indent="-457200">
              <a:buFont typeface="+mj-lt"/>
              <a:buAutoNum type="arabicPeriod"/>
            </a:pPr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pPr lvl="1"/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38" y="2394352"/>
            <a:ext cx="646331" cy="646331"/>
          </a:xfrm>
          <a:prstGeom prst="rect">
            <a:avLst/>
          </a:prstGeom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23" y="4627519"/>
            <a:ext cx="489559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8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8042" y="2326273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Спасибо за внимание.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930411" y="6509084"/>
            <a:ext cx="2210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Сделано при поддержке </a:t>
            </a:r>
            <a:r>
              <a:rPr lang="en-US" sz="1000" dirty="0" smtClean="0"/>
              <a:t>flaticon.com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27709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781</Words>
  <Application>Microsoft Office PowerPoint</Application>
  <PresentationFormat>Широкоэкранный</PresentationFormat>
  <Paragraphs>103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Wingdings</vt:lpstr>
      <vt:lpstr>Тема Office</vt:lpstr>
      <vt:lpstr>Проект Автоматизация процессов таможенного оформления в системе SAP ERP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внимание.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Таможенное оформление грузов ПАО «Аэрофлот»</dc:title>
  <dc:creator>Рамакс</dc:creator>
  <cp:lastModifiedBy>Рамакс</cp:lastModifiedBy>
  <cp:revision>102</cp:revision>
  <dcterms:created xsi:type="dcterms:W3CDTF">2020-07-23T06:43:42Z</dcterms:created>
  <dcterms:modified xsi:type="dcterms:W3CDTF">2021-08-25T09:09:04Z</dcterms:modified>
</cp:coreProperties>
</file>