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32" autoAdjust="0"/>
    <p:restoredTop sz="93904" autoAdjust="0"/>
  </p:normalViewPr>
  <p:slideViewPr>
    <p:cSldViewPr snapToGrid="0">
      <p:cViewPr>
        <p:scale>
          <a:sx n="125" d="100"/>
          <a:sy n="125" d="100"/>
        </p:scale>
        <p:origin x="64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5FE5-AEDC-4C58-A9FD-EACD0BD949BB}" type="datetimeFigureOut">
              <a:rPr lang="ru-RU" smtClean="0"/>
              <a:t>30.08.2019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CDD0-FF67-4156-95DD-C99349E270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970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5FE5-AEDC-4C58-A9FD-EACD0BD949BB}" type="datetimeFigureOut">
              <a:rPr lang="ru-RU" smtClean="0"/>
              <a:t>30.08.2019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CDD0-FF67-4156-95DD-C99349E270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593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5FE5-AEDC-4C58-A9FD-EACD0BD949BB}" type="datetimeFigureOut">
              <a:rPr lang="ru-RU" smtClean="0"/>
              <a:t>30.08.2019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CDD0-FF67-4156-95DD-C99349E270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2920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5FE5-AEDC-4C58-A9FD-EACD0BD949BB}" type="datetimeFigureOut">
              <a:rPr lang="ru-RU" smtClean="0"/>
              <a:t>30.08.2019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CDD0-FF67-4156-95DD-C99349E270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2038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5FE5-AEDC-4C58-A9FD-EACD0BD949BB}" type="datetimeFigureOut">
              <a:rPr lang="ru-RU" smtClean="0"/>
              <a:t>30.08.2019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CDD0-FF67-4156-95DD-C99349E270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746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5FE5-AEDC-4C58-A9FD-EACD0BD949BB}" type="datetimeFigureOut">
              <a:rPr lang="ru-RU" smtClean="0"/>
              <a:t>30.08.2019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CDD0-FF67-4156-95DD-C99349E270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701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5FE5-AEDC-4C58-A9FD-EACD0BD949BB}" type="datetimeFigureOut">
              <a:rPr lang="ru-RU" smtClean="0"/>
              <a:t>30.08.2019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CDD0-FF67-4156-95DD-C99349E270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9312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5FE5-AEDC-4C58-A9FD-EACD0BD949BB}" type="datetimeFigureOut">
              <a:rPr lang="ru-RU" smtClean="0"/>
              <a:t>30.08.2019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CDD0-FF67-4156-95DD-C99349E270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5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5FE5-AEDC-4C58-A9FD-EACD0BD949BB}" type="datetimeFigureOut">
              <a:rPr lang="ru-RU" smtClean="0"/>
              <a:t>30.08.2019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CDD0-FF67-4156-95DD-C99349E270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2068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5FE5-AEDC-4C58-A9FD-EACD0BD949BB}" type="datetimeFigureOut">
              <a:rPr lang="ru-RU" smtClean="0"/>
              <a:t>30.08.2019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CDD0-FF67-4156-95DD-C99349E270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6722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5FE5-AEDC-4C58-A9FD-EACD0BD949BB}" type="datetimeFigureOut">
              <a:rPr lang="ru-RU" smtClean="0"/>
              <a:t>30.08.2019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CDD0-FF67-4156-95DD-C99349E270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5045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15FE5-AEDC-4C58-A9FD-EACD0BD949BB}" type="datetimeFigureOut">
              <a:rPr lang="ru-RU" smtClean="0"/>
              <a:t>30.08.2019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03CDD0-FF67-4156-95DD-C99349E270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3620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50" Type="http://schemas.openxmlformats.org/officeDocument/2006/relationships/tags" Target="../tags/tag50.xml"/><Relationship Id="rId55" Type="http://schemas.openxmlformats.org/officeDocument/2006/relationships/slideLayout" Target="../slideLayouts/slideLayout1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tags" Target="../tags/tag53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67.xml"/><Relationship Id="rId18" Type="http://schemas.openxmlformats.org/officeDocument/2006/relationships/tags" Target="../tags/tag72.xml"/><Relationship Id="rId26" Type="http://schemas.openxmlformats.org/officeDocument/2006/relationships/tags" Target="../tags/tag80.xml"/><Relationship Id="rId39" Type="http://schemas.openxmlformats.org/officeDocument/2006/relationships/slideLayout" Target="../slideLayouts/slideLayout2.xml"/><Relationship Id="rId21" Type="http://schemas.openxmlformats.org/officeDocument/2006/relationships/tags" Target="../tags/tag75.xml"/><Relationship Id="rId34" Type="http://schemas.openxmlformats.org/officeDocument/2006/relationships/tags" Target="../tags/tag88.xml"/><Relationship Id="rId7" Type="http://schemas.openxmlformats.org/officeDocument/2006/relationships/tags" Target="../tags/tag61.xml"/><Relationship Id="rId12" Type="http://schemas.openxmlformats.org/officeDocument/2006/relationships/tags" Target="../tags/tag66.xml"/><Relationship Id="rId17" Type="http://schemas.openxmlformats.org/officeDocument/2006/relationships/tags" Target="../tags/tag71.xml"/><Relationship Id="rId25" Type="http://schemas.openxmlformats.org/officeDocument/2006/relationships/tags" Target="../tags/tag79.xml"/><Relationship Id="rId33" Type="http://schemas.openxmlformats.org/officeDocument/2006/relationships/tags" Target="../tags/tag87.xml"/><Relationship Id="rId38" Type="http://schemas.openxmlformats.org/officeDocument/2006/relationships/tags" Target="../tags/tag92.xml"/><Relationship Id="rId2" Type="http://schemas.openxmlformats.org/officeDocument/2006/relationships/tags" Target="../tags/tag56.xml"/><Relationship Id="rId16" Type="http://schemas.openxmlformats.org/officeDocument/2006/relationships/tags" Target="../tags/tag70.xml"/><Relationship Id="rId20" Type="http://schemas.openxmlformats.org/officeDocument/2006/relationships/tags" Target="../tags/tag74.xml"/><Relationship Id="rId29" Type="http://schemas.openxmlformats.org/officeDocument/2006/relationships/tags" Target="../tags/tag83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tags" Target="../tags/tag65.xml"/><Relationship Id="rId24" Type="http://schemas.openxmlformats.org/officeDocument/2006/relationships/tags" Target="../tags/tag78.xml"/><Relationship Id="rId32" Type="http://schemas.openxmlformats.org/officeDocument/2006/relationships/tags" Target="../tags/tag86.xml"/><Relationship Id="rId37" Type="http://schemas.openxmlformats.org/officeDocument/2006/relationships/tags" Target="../tags/tag91.xml"/><Relationship Id="rId5" Type="http://schemas.openxmlformats.org/officeDocument/2006/relationships/tags" Target="../tags/tag59.xml"/><Relationship Id="rId15" Type="http://schemas.openxmlformats.org/officeDocument/2006/relationships/tags" Target="../tags/tag69.xml"/><Relationship Id="rId23" Type="http://schemas.openxmlformats.org/officeDocument/2006/relationships/tags" Target="../tags/tag77.xml"/><Relationship Id="rId28" Type="http://schemas.openxmlformats.org/officeDocument/2006/relationships/tags" Target="../tags/tag82.xml"/><Relationship Id="rId36" Type="http://schemas.openxmlformats.org/officeDocument/2006/relationships/tags" Target="../tags/tag90.xml"/><Relationship Id="rId10" Type="http://schemas.openxmlformats.org/officeDocument/2006/relationships/tags" Target="../tags/tag64.xml"/><Relationship Id="rId19" Type="http://schemas.openxmlformats.org/officeDocument/2006/relationships/tags" Target="../tags/tag73.xml"/><Relationship Id="rId31" Type="http://schemas.openxmlformats.org/officeDocument/2006/relationships/tags" Target="../tags/tag85.xml"/><Relationship Id="rId4" Type="http://schemas.openxmlformats.org/officeDocument/2006/relationships/tags" Target="../tags/tag58.xml"/><Relationship Id="rId9" Type="http://schemas.openxmlformats.org/officeDocument/2006/relationships/tags" Target="../tags/tag63.xml"/><Relationship Id="rId14" Type="http://schemas.openxmlformats.org/officeDocument/2006/relationships/tags" Target="../tags/tag68.xml"/><Relationship Id="rId22" Type="http://schemas.openxmlformats.org/officeDocument/2006/relationships/tags" Target="../tags/tag76.xml"/><Relationship Id="rId27" Type="http://schemas.openxmlformats.org/officeDocument/2006/relationships/tags" Target="../tags/tag81.xml"/><Relationship Id="rId30" Type="http://schemas.openxmlformats.org/officeDocument/2006/relationships/tags" Target="../tags/tag84.xml"/><Relationship Id="rId35" Type="http://schemas.openxmlformats.org/officeDocument/2006/relationships/tags" Target="../tags/tag89.xml"/><Relationship Id="rId8" Type="http://schemas.openxmlformats.org/officeDocument/2006/relationships/tags" Target="../tags/tag62.xml"/><Relationship Id="rId3" Type="http://schemas.openxmlformats.org/officeDocument/2006/relationships/tags" Target="../tags/tag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6596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11186" y="336707"/>
            <a:ext cx="5660777" cy="428625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6554" tIns="18851" rIns="18851" bIns="18851" anchor="ctr"/>
          <a:lstStyle>
            <a:lvl1pPr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ru-RU" altLang="ru-RU" b="1" dirty="0" smtClean="0">
                <a:latin typeface="Arial" panose="020B0604020202020204" pitchFamily="34" charset="0"/>
              </a:rPr>
              <a:t>Поступление инструмента на склады ДТО ВС</a:t>
            </a:r>
            <a:r>
              <a:rPr lang="en-US" altLang="ru-RU" b="1" dirty="0" smtClean="0">
                <a:latin typeface="Arial" panose="020B0604020202020204" pitchFamily="34" charset="0"/>
              </a:rPr>
              <a:t> / </a:t>
            </a:r>
            <a:r>
              <a:rPr lang="ru-RU" altLang="ru-RU" b="1" dirty="0" smtClean="0">
                <a:latin typeface="Arial" panose="020B0604020202020204" pitchFamily="34" charset="0"/>
              </a:rPr>
              <a:t>и ввод в эксплуатацию</a:t>
            </a:r>
            <a:endParaRPr lang="en-GB" altLang="ru-RU" b="1" dirty="0">
              <a:latin typeface="Arial" panose="020B0604020202020204" pitchFamily="34" charset="0"/>
            </a:endParaRPr>
          </a:p>
        </p:txBody>
      </p:sp>
      <p:sp>
        <p:nvSpPr>
          <p:cNvPr id="155" name="Rectangle 16596" descr="Светлый диагональный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11186" y="1169865"/>
            <a:ext cx="885825" cy="360363"/>
          </a:xfrm>
          <a:prstGeom prst="rect">
            <a:avLst/>
          </a:prstGeom>
          <a:pattFill prst="ltDnDiag">
            <a:fgClr>
              <a:srgbClr val="FEDF5C"/>
            </a:fgClr>
            <a:bgClr>
              <a:srgbClr val="FFFFFF"/>
            </a:bgClr>
          </a:patt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>
            <a:lvl1pPr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endParaRPr lang="ru-RU" altLang="ru-RU" sz="500" b="1" dirty="0">
              <a:latin typeface="Arial" panose="020B0604020202020204" pitchFamily="34" charset="0"/>
            </a:endParaRPr>
          </a:p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Arial" panose="020B0604020202020204" pitchFamily="34" charset="0"/>
              </a:rPr>
              <a:t>Поступление инструмента (закупка или с калибровки) на склад</a:t>
            </a:r>
            <a:endParaRPr lang="en-GB" altLang="ru-RU" sz="500" b="1" dirty="0">
              <a:latin typeface="Arial" panose="020B0604020202020204" pitchFamily="34" charset="0"/>
            </a:endParaRPr>
          </a:p>
        </p:txBody>
      </p:sp>
      <p:sp>
        <p:nvSpPr>
          <p:cNvPr id="156" name="Oval 44"/>
          <p:cNvSpPr>
            <a:spLocks noChangeArrowheads="1"/>
          </p:cNvSpPr>
          <p:nvPr/>
        </p:nvSpPr>
        <p:spPr bwMode="auto">
          <a:xfrm>
            <a:off x="910429" y="773727"/>
            <a:ext cx="287338" cy="287338"/>
          </a:xfrm>
          <a:prstGeom prst="ellipse">
            <a:avLst/>
          </a:prstGeom>
          <a:solidFill>
            <a:srgbClr val="77ADAA"/>
          </a:solidFill>
          <a:ln w="3175" algn="ctr">
            <a:solidFill>
              <a:srgbClr val="000000"/>
            </a:solidFill>
            <a:round/>
            <a:headEnd/>
            <a:tailEnd type="none" w="lg" len="lg"/>
          </a:ln>
        </p:spPr>
        <p:txBody>
          <a:bodyPr lIns="0" tIns="0" rIns="0" bIns="0" anchor="ctr"/>
          <a:lstStyle>
            <a:lvl1pPr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de-DE" altLang="ru-RU" sz="400" dirty="0" err="1"/>
              <a:t>Process</a:t>
            </a:r>
            <a:r>
              <a:rPr lang="de-DE" altLang="ru-RU" sz="400" dirty="0"/>
              <a:t> Start</a:t>
            </a:r>
          </a:p>
        </p:txBody>
      </p:sp>
      <p:sp>
        <p:nvSpPr>
          <p:cNvPr id="160" name="Rectangle 1659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46969" y="1168750"/>
            <a:ext cx="885825" cy="360363"/>
          </a:xfrm>
          <a:prstGeom prst="rect">
            <a:avLst/>
          </a:prstGeom>
          <a:solidFill>
            <a:srgbClr val="FEDF5C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>
            <a:lvl1pPr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endParaRPr lang="ru-RU" altLang="ru-RU" sz="500" b="1" dirty="0"/>
          </a:p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Arial" panose="020B0604020202020204" pitchFamily="34" charset="0"/>
              </a:rPr>
              <a:t>Отражение операции поступления в системе на склад </a:t>
            </a:r>
            <a:r>
              <a:rPr lang="ru-RU" altLang="ru-RU" sz="500" b="1" dirty="0" err="1" smtClean="0">
                <a:latin typeface="Arial" panose="020B0604020202020204" pitchFamily="34" charset="0"/>
              </a:rPr>
              <a:t>вх</a:t>
            </a:r>
            <a:r>
              <a:rPr lang="ru-RU" altLang="ru-RU" sz="500" b="1" dirty="0" smtClean="0">
                <a:latin typeface="Arial" panose="020B0604020202020204" pitchFamily="34" charset="0"/>
              </a:rPr>
              <a:t>. контроля</a:t>
            </a:r>
          </a:p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Arial" panose="020B0604020202020204" pitchFamily="34" charset="0"/>
              </a:rPr>
              <a:t>	.</a:t>
            </a:r>
            <a:endParaRPr lang="en-GB" altLang="ru-RU" sz="500" b="1" dirty="0">
              <a:latin typeface="Arial" panose="020B0604020202020204" pitchFamily="34" charset="0"/>
            </a:endParaRPr>
          </a:p>
        </p:txBody>
      </p:sp>
      <p:cxnSp>
        <p:nvCxnSpPr>
          <p:cNvPr id="161" name="AutoShape 3706"/>
          <p:cNvCxnSpPr>
            <a:cxnSpLocks noChangeShapeType="1"/>
            <a:stCxn id="155" idx="3"/>
            <a:endCxn id="160" idx="1"/>
          </p:cNvCxnSpPr>
          <p:nvPr/>
        </p:nvCxnSpPr>
        <p:spPr bwMode="auto">
          <a:xfrm flipV="1">
            <a:off x="1497011" y="1348932"/>
            <a:ext cx="349958" cy="1115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" name="AutoShape 3706"/>
          <p:cNvCxnSpPr>
            <a:cxnSpLocks noChangeShapeType="1"/>
            <a:stCxn id="156" idx="4"/>
            <a:endCxn id="155" idx="0"/>
          </p:cNvCxnSpPr>
          <p:nvPr/>
        </p:nvCxnSpPr>
        <p:spPr bwMode="auto">
          <a:xfrm>
            <a:off x="1054098" y="1061065"/>
            <a:ext cx="1" cy="108800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1" name="AutoShape 3706"/>
          <p:cNvCxnSpPr>
            <a:cxnSpLocks noChangeShapeType="1"/>
          </p:cNvCxnSpPr>
          <p:nvPr/>
        </p:nvCxnSpPr>
        <p:spPr bwMode="auto">
          <a:xfrm>
            <a:off x="1497011" y="1350047"/>
            <a:ext cx="349958" cy="4981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5" name="Rectangle 1659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473714" y="1446563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Шаг</a:t>
            </a:r>
            <a:r>
              <a:rPr lang="ru-RU" altLang="ru-RU" sz="500" b="1" dirty="0">
                <a:latin typeface="+mn-lt"/>
              </a:rPr>
              <a:t> </a:t>
            </a:r>
            <a:r>
              <a:rPr lang="ru-RU" altLang="ru-RU" sz="500" b="1" dirty="0" smtClean="0">
                <a:latin typeface="+mn-lt"/>
              </a:rPr>
              <a:t>1</a:t>
            </a:r>
            <a:endParaRPr lang="en-US" altLang="ru-RU" sz="500" b="1" dirty="0"/>
          </a:p>
        </p:txBody>
      </p:sp>
      <p:sp>
        <p:nvSpPr>
          <p:cNvPr id="176" name="Rectangle 1659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46969" y="1447149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2121</a:t>
            </a:r>
            <a:endParaRPr lang="en-US" altLang="ru-RU" sz="500" b="1" dirty="0"/>
          </a:p>
        </p:txBody>
      </p:sp>
      <p:sp>
        <p:nvSpPr>
          <p:cNvPr id="181" name="AutoShape 19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flipH="1" flipV="1">
            <a:off x="3017938" y="762473"/>
            <a:ext cx="792162" cy="576262"/>
          </a:xfrm>
          <a:prstGeom prst="wedgeRectCallout">
            <a:avLst>
              <a:gd name="adj1" fmla="val 86462"/>
              <a:gd name="adj2" fmla="val -53617"/>
            </a:avLst>
          </a:prstGeom>
          <a:solidFill>
            <a:srgbClr val="FFFFFF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rot="10800000" lIns="18000" tIns="18000" rIns="18000" bIns="18000" anchor="ctr" anchorCtr="1"/>
          <a:lstStyle>
            <a:lvl1pPr marL="46038" indent="-46038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/>
            <a:r>
              <a:rPr lang="ru-RU" altLang="ru-RU" sz="500" dirty="0" smtClean="0">
                <a:latin typeface="Arial" panose="020B0604020202020204" pitchFamily="34" charset="0"/>
              </a:rPr>
              <a:t>Поступление может быть отражено на склад ДУЗД или склад ДТО ВС входного контроля</a:t>
            </a:r>
            <a:r>
              <a:rPr lang="en-US" altLang="ru-RU" sz="500" dirty="0" smtClean="0">
                <a:latin typeface="Arial" panose="020B0604020202020204" pitchFamily="34" charset="0"/>
              </a:rPr>
              <a:t>.</a:t>
            </a:r>
            <a:endParaRPr lang="en-US" altLang="ru-RU" sz="500" dirty="0">
              <a:latin typeface="Arial" panose="020B0604020202020204" pitchFamily="34" charset="0"/>
            </a:endParaRPr>
          </a:p>
        </p:txBody>
      </p:sp>
      <p:sp>
        <p:nvSpPr>
          <p:cNvPr id="189" name="Rectangle 1659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846969" y="1690365"/>
            <a:ext cx="885825" cy="360363"/>
          </a:xfrm>
          <a:prstGeom prst="rect">
            <a:avLst/>
          </a:prstGeom>
          <a:solidFill>
            <a:srgbClr val="FEDF5C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>
            <a:lvl1pPr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endParaRPr lang="ru-RU" altLang="ru-RU" sz="500" b="1" dirty="0"/>
          </a:p>
          <a:p>
            <a:pPr algn="ctr" eaLnBrk="1" hangingPunct="1">
              <a:lnSpc>
                <a:spcPct val="80000"/>
              </a:lnSpc>
            </a:pPr>
            <a:r>
              <a:rPr lang="en-US" altLang="ru-RU" sz="500" b="1" dirty="0" err="1" smtClean="0">
                <a:latin typeface="Arial" panose="020B0604020202020204" pitchFamily="34" charset="0"/>
              </a:rPr>
              <a:t>Pickslip</a:t>
            </a:r>
            <a:r>
              <a:rPr lang="en-US" altLang="ru-RU" sz="500" b="1" dirty="0" smtClean="0">
                <a:latin typeface="Arial" panose="020B0604020202020204" pitchFamily="34" charset="0"/>
              </a:rPr>
              <a:t> Request /</a:t>
            </a:r>
            <a:r>
              <a:rPr lang="ru-RU" altLang="ru-RU" sz="500" b="1" dirty="0" smtClean="0">
                <a:latin typeface="Arial" panose="020B0604020202020204" pitchFamily="34" charset="0"/>
              </a:rPr>
              <a:t> Запрос на перемещение</a:t>
            </a:r>
            <a:endParaRPr lang="en-GB" altLang="ru-RU" sz="500" b="1" dirty="0">
              <a:latin typeface="Arial" panose="020B0604020202020204" pitchFamily="34" charset="0"/>
            </a:endParaRPr>
          </a:p>
        </p:txBody>
      </p:sp>
      <p:sp>
        <p:nvSpPr>
          <p:cNvPr id="190" name="Rectangle 16597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473714" y="1968178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Шаг</a:t>
            </a:r>
            <a:r>
              <a:rPr lang="ru-RU" altLang="ru-RU" sz="500" b="1" dirty="0">
                <a:latin typeface="+mn-lt"/>
              </a:rPr>
              <a:t> </a:t>
            </a:r>
            <a:r>
              <a:rPr lang="ru-RU" altLang="ru-RU" sz="500" b="1" dirty="0" smtClean="0"/>
              <a:t>2</a:t>
            </a:r>
            <a:endParaRPr lang="en-US" altLang="ru-RU" sz="500" b="1" dirty="0"/>
          </a:p>
        </p:txBody>
      </p:sp>
      <p:sp>
        <p:nvSpPr>
          <p:cNvPr id="191" name="Rectangle 16597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846969" y="1968764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225</a:t>
            </a:r>
            <a:endParaRPr lang="en-US" altLang="ru-RU" sz="500" b="1" dirty="0"/>
          </a:p>
        </p:txBody>
      </p:sp>
      <p:sp>
        <p:nvSpPr>
          <p:cNvPr id="193" name="Rectangle 16596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846797" y="2211394"/>
            <a:ext cx="885825" cy="360363"/>
          </a:xfrm>
          <a:prstGeom prst="rect">
            <a:avLst/>
          </a:prstGeom>
          <a:solidFill>
            <a:srgbClr val="FEDF5C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>
            <a:lvl1pPr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endParaRPr lang="ru-RU" altLang="ru-RU" sz="500" b="1" dirty="0"/>
          </a:p>
          <a:p>
            <a:pPr algn="ctr" eaLnBrk="1" hangingPunct="1">
              <a:lnSpc>
                <a:spcPct val="80000"/>
              </a:lnSpc>
            </a:pPr>
            <a:r>
              <a:rPr lang="en-US" altLang="ru-RU" sz="500" b="1" dirty="0" err="1" smtClean="0">
                <a:latin typeface="Arial" panose="020B0604020202020204" pitchFamily="34" charset="0"/>
              </a:rPr>
              <a:t>Pickslip</a:t>
            </a:r>
            <a:r>
              <a:rPr lang="en-US" altLang="ru-RU" sz="500" b="1" dirty="0" smtClean="0">
                <a:latin typeface="Arial" panose="020B0604020202020204" pitchFamily="34" charset="0"/>
              </a:rPr>
              <a:t> confirmation /</a:t>
            </a:r>
            <a:r>
              <a:rPr lang="ru-RU" altLang="ru-RU" sz="500" b="1" dirty="0" smtClean="0">
                <a:latin typeface="Arial" panose="020B0604020202020204" pitchFamily="34" charset="0"/>
              </a:rPr>
              <a:t> Отпуск со склада</a:t>
            </a:r>
            <a:endParaRPr lang="en-GB" altLang="ru-RU" sz="500" b="1" dirty="0">
              <a:latin typeface="Arial" panose="020B0604020202020204" pitchFamily="34" charset="0"/>
            </a:endParaRPr>
          </a:p>
        </p:txBody>
      </p:sp>
      <p:sp>
        <p:nvSpPr>
          <p:cNvPr id="194" name="Rectangle 16597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473542" y="2489207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Шаг</a:t>
            </a:r>
            <a:r>
              <a:rPr lang="ru-RU" altLang="ru-RU" sz="500" b="1" dirty="0">
                <a:latin typeface="+mn-lt"/>
              </a:rPr>
              <a:t> </a:t>
            </a:r>
            <a:r>
              <a:rPr lang="ru-RU" altLang="ru-RU" sz="500" b="1" dirty="0" smtClean="0"/>
              <a:t>3</a:t>
            </a:r>
            <a:endParaRPr lang="en-US" altLang="ru-RU" sz="500" b="1" dirty="0"/>
          </a:p>
        </p:txBody>
      </p:sp>
      <p:sp>
        <p:nvSpPr>
          <p:cNvPr id="195" name="Rectangle 16597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846797" y="2489793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230</a:t>
            </a:r>
            <a:endParaRPr lang="en-US" altLang="ru-RU" sz="500" b="1" dirty="0"/>
          </a:p>
        </p:txBody>
      </p:sp>
      <p:cxnSp>
        <p:nvCxnSpPr>
          <p:cNvPr id="196" name="AutoShape 3706"/>
          <p:cNvCxnSpPr>
            <a:cxnSpLocks noChangeShapeType="1"/>
            <a:stCxn id="160" idx="2"/>
            <a:endCxn id="189" idx="0"/>
          </p:cNvCxnSpPr>
          <p:nvPr/>
        </p:nvCxnSpPr>
        <p:spPr bwMode="auto">
          <a:xfrm>
            <a:off x="2289882" y="1529113"/>
            <a:ext cx="0" cy="161252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7" name="AutoShape 3706"/>
          <p:cNvCxnSpPr>
            <a:cxnSpLocks noChangeShapeType="1"/>
            <a:stCxn id="189" idx="2"/>
            <a:endCxn id="193" idx="0"/>
          </p:cNvCxnSpPr>
          <p:nvPr/>
        </p:nvCxnSpPr>
        <p:spPr bwMode="auto">
          <a:xfrm flipH="1">
            <a:off x="2289710" y="2050728"/>
            <a:ext cx="172" cy="160666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8" name="Rectangle 16596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846711" y="2724629"/>
            <a:ext cx="885825" cy="360363"/>
          </a:xfrm>
          <a:prstGeom prst="rect">
            <a:avLst/>
          </a:prstGeom>
          <a:solidFill>
            <a:srgbClr val="FEDF5C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>
            <a:lvl1pPr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endParaRPr lang="ru-RU" altLang="ru-RU" sz="500" b="1" dirty="0"/>
          </a:p>
          <a:p>
            <a:pPr algn="ctr" eaLnBrk="1" hangingPunct="1">
              <a:lnSpc>
                <a:spcPct val="80000"/>
              </a:lnSpc>
            </a:pPr>
            <a:r>
              <a:rPr lang="en-US" altLang="ru-RU" sz="500" b="1" dirty="0" err="1" smtClean="0">
                <a:latin typeface="Arial" panose="020B0604020202020204" pitchFamily="34" charset="0"/>
              </a:rPr>
              <a:t>Pickslip</a:t>
            </a:r>
            <a:r>
              <a:rPr lang="en-US" altLang="ru-RU" sz="500" b="1" dirty="0" smtClean="0">
                <a:latin typeface="Arial" panose="020B0604020202020204" pitchFamily="34" charset="0"/>
              </a:rPr>
              <a:t> confirmation /</a:t>
            </a:r>
            <a:r>
              <a:rPr lang="ru-RU" altLang="ru-RU" sz="500" b="1" dirty="0" smtClean="0">
                <a:latin typeface="Arial" panose="020B0604020202020204" pitchFamily="34" charset="0"/>
              </a:rPr>
              <a:t> Получение на склад</a:t>
            </a:r>
            <a:endParaRPr lang="en-GB" altLang="ru-RU" sz="500" b="1" dirty="0">
              <a:latin typeface="Arial" panose="020B0604020202020204" pitchFamily="34" charset="0"/>
            </a:endParaRPr>
          </a:p>
        </p:txBody>
      </p:sp>
      <p:sp>
        <p:nvSpPr>
          <p:cNvPr id="199" name="Rectangle 16597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473456" y="3002442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Шаг </a:t>
            </a:r>
            <a:r>
              <a:rPr lang="en-US" altLang="ru-RU" sz="500" b="1" dirty="0" smtClean="0"/>
              <a:t>4</a:t>
            </a:r>
            <a:endParaRPr lang="en-US" altLang="ru-RU" sz="500" b="1" dirty="0"/>
          </a:p>
        </p:txBody>
      </p:sp>
      <p:sp>
        <p:nvSpPr>
          <p:cNvPr id="200" name="Rectangle 16597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1846711" y="3003028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230</a:t>
            </a:r>
            <a:endParaRPr lang="en-US" altLang="ru-RU" sz="500" b="1" dirty="0"/>
          </a:p>
        </p:txBody>
      </p:sp>
      <p:cxnSp>
        <p:nvCxnSpPr>
          <p:cNvPr id="201" name="AutoShape 3706"/>
          <p:cNvCxnSpPr>
            <a:cxnSpLocks noChangeShapeType="1"/>
            <a:stCxn id="193" idx="2"/>
            <a:endCxn id="198" idx="0"/>
          </p:cNvCxnSpPr>
          <p:nvPr/>
        </p:nvCxnSpPr>
        <p:spPr bwMode="auto">
          <a:xfrm flipH="1">
            <a:off x="2289624" y="2571757"/>
            <a:ext cx="86" cy="152872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2" name="AutoShape 19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 flipH="1" flipV="1">
            <a:off x="745171" y="2120900"/>
            <a:ext cx="792162" cy="259690"/>
          </a:xfrm>
          <a:prstGeom prst="wedgeRectCallout">
            <a:avLst>
              <a:gd name="adj1" fmla="val -85915"/>
              <a:gd name="adj2" fmla="val -196809"/>
            </a:avLst>
          </a:prstGeom>
          <a:solidFill>
            <a:srgbClr val="FFFFFF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rot="10800000" lIns="18000" tIns="18000" rIns="18000" bIns="18000" anchor="ctr" anchorCtr="1"/>
          <a:lstStyle>
            <a:lvl1pPr marL="46038" indent="-46038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/>
            <a:r>
              <a:rPr lang="ru-RU" altLang="ru-RU" sz="500" dirty="0" smtClean="0">
                <a:latin typeface="Arial" panose="020B0604020202020204" pitchFamily="34" charset="0"/>
              </a:rPr>
              <a:t>Поступление на склад </a:t>
            </a:r>
            <a:r>
              <a:rPr lang="en-US" altLang="ru-RU" sz="500" dirty="0" smtClean="0">
                <a:latin typeface="Arial" panose="020B0604020202020204" pitchFamily="34" charset="0"/>
              </a:rPr>
              <a:t>TOOLS </a:t>
            </a:r>
            <a:r>
              <a:rPr lang="ru-RU" altLang="ru-RU" sz="500" dirty="0" smtClean="0">
                <a:latin typeface="Arial" panose="020B0604020202020204" pitchFamily="34" charset="0"/>
              </a:rPr>
              <a:t>или склады МОЛ 302</a:t>
            </a:r>
            <a:r>
              <a:rPr lang="en-US" altLang="ru-RU" sz="500" dirty="0" smtClean="0">
                <a:latin typeface="Arial" panose="020B0604020202020204" pitchFamily="34" charset="0"/>
              </a:rPr>
              <a:t>*.</a:t>
            </a:r>
            <a:endParaRPr lang="en-US" altLang="ru-RU" sz="500" dirty="0">
              <a:latin typeface="Arial" panose="020B0604020202020204" pitchFamily="34" charset="0"/>
            </a:endParaRPr>
          </a:p>
        </p:txBody>
      </p:sp>
      <p:grpSp>
        <p:nvGrpSpPr>
          <p:cNvPr id="203" name="Group 3719"/>
          <p:cNvGrpSpPr>
            <a:grpSpLocks/>
          </p:cNvGrpSpPr>
          <p:nvPr/>
        </p:nvGrpSpPr>
        <p:grpSpPr bwMode="auto">
          <a:xfrm>
            <a:off x="611186" y="2724629"/>
            <a:ext cx="885825" cy="360362"/>
            <a:chOff x="2268" y="2642"/>
            <a:chExt cx="1758" cy="594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204" name="Rectangle 16596"/>
            <p:cNvSpPr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2268" y="2642"/>
              <a:ext cx="1758" cy="594"/>
            </a:xfrm>
            <a:prstGeom prst="rect">
              <a:avLst/>
            </a:prstGeom>
            <a:grpFill/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318" tIns="35006" rIns="67318" bIns="35006"/>
            <a:lstStyle>
              <a:lvl1pPr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1pPr>
              <a:lvl2pPr marL="742950" indent="-285750"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2pPr>
              <a:lvl3pPr marL="1143000" indent="-228600"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3pPr>
              <a:lvl4pPr marL="1600200" indent="-228600"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4pPr>
              <a:lvl5pPr marL="2057400" indent="-228600"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5pPr>
              <a:lvl6pPr marL="2514600" indent="-228600" defTabSz="6826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6pPr>
              <a:lvl7pPr marL="2971800" indent="-228600" defTabSz="6826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7pPr>
              <a:lvl8pPr marL="3429000" indent="-228600" defTabSz="6826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8pPr>
              <a:lvl9pPr marL="3886200" indent="-228600" defTabSz="6826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endParaRPr lang="en-US" altLang="ru-RU" sz="500" b="1" dirty="0" smtClean="0">
                <a:latin typeface="Arial" panose="020B0604020202020204" pitchFamily="34" charset="0"/>
              </a:endParaRPr>
            </a:p>
            <a:p>
              <a:pPr algn="ctr" eaLnBrk="1" hangingPunct="1">
                <a:lnSpc>
                  <a:spcPct val="80000"/>
                </a:lnSpc>
              </a:pPr>
              <a:r>
                <a:rPr lang="ru-RU" altLang="ru-RU" sz="500" b="1" dirty="0" smtClean="0">
                  <a:latin typeface="Arial" panose="020B0604020202020204" pitchFamily="34" charset="0"/>
                </a:rPr>
                <a:t>Печать приходного ордера </a:t>
              </a:r>
              <a:r>
                <a:rPr lang="en-US" altLang="ru-RU" sz="500" b="1" dirty="0" smtClean="0">
                  <a:latin typeface="Arial" panose="020B0604020202020204" pitchFamily="34" charset="0"/>
                </a:rPr>
                <a:t>M4 </a:t>
              </a:r>
              <a:r>
                <a:rPr lang="ru-RU" altLang="ru-RU" sz="500" b="1" dirty="0" smtClean="0">
                  <a:latin typeface="Arial" panose="020B0604020202020204" pitchFamily="34" charset="0"/>
                </a:rPr>
                <a:t>из </a:t>
              </a:r>
              <a:r>
                <a:rPr lang="en-US" altLang="ru-RU" sz="500" b="1" dirty="0" smtClean="0">
                  <a:latin typeface="Arial" panose="020B0604020202020204" pitchFamily="34" charset="0"/>
                </a:rPr>
                <a:t>SAP ERP</a:t>
              </a:r>
              <a:endParaRPr lang="en-US" altLang="ru-RU" sz="500" b="1" dirty="0">
                <a:latin typeface="Arial" panose="020B0604020202020204" pitchFamily="34" charset="0"/>
              </a:endParaRPr>
            </a:p>
          </p:txBody>
        </p:sp>
        <p:sp>
          <p:nvSpPr>
            <p:cNvPr id="205" name="Rectangle 16597"/>
            <p:cNvSpPr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2268" y="3100"/>
              <a:ext cx="514" cy="136"/>
            </a:xfrm>
            <a:prstGeom prst="rect">
              <a:avLst/>
            </a:prstGeom>
            <a:solidFill>
              <a:schemeClr val="accent2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7318" tIns="18000" rIns="67318" bIns="35006"/>
            <a:lstStyle>
              <a:lvl1pPr marL="34925" indent="-34925"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1pPr>
              <a:lvl2pPr marL="742950" indent="-285750"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2pPr>
              <a:lvl3pPr marL="1143000" indent="-228600"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3pPr>
              <a:lvl4pPr marL="1600200" indent="-228600"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4pPr>
              <a:lvl5pPr marL="2057400" indent="-228600"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5pPr>
              <a:lvl6pPr marL="2514600" indent="-228600" defTabSz="6826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6pPr>
              <a:lvl7pPr marL="2971800" indent="-228600" defTabSz="6826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7pPr>
              <a:lvl8pPr marL="3429000" indent="-228600" defTabSz="6826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8pPr>
              <a:lvl9pPr marL="3886200" indent="-228600" defTabSz="6826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ru-RU" sz="500" b="1" dirty="0">
                  <a:latin typeface="+mn-lt"/>
                </a:rPr>
                <a:t>Z*print</a:t>
              </a:r>
            </a:p>
          </p:txBody>
        </p:sp>
        <p:sp>
          <p:nvSpPr>
            <p:cNvPr id="207" name="Rectangle 16597"/>
            <p:cNvSpPr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3512" y="3100"/>
              <a:ext cx="514" cy="136"/>
            </a:xfrm>
            <a:prstGeom prst="rect">
              <a:avLst/>
            </a:prstGeom>
            <a:solidFill>
              <a:schemeClr val="accent2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7318" tIns="7200" rIns="67318" bIns="35006"/>
            <a:lstStyle>
              <a:lvl1pPr marL="34925" indent="-34925"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1pPr>
              <a:lvl2pPr marL="742950" indent="-285750"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2pPr>
              <a:lvl3pPr marL="1143000" indent="-228600"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3pPr>
              <a:lvl4pPr marL="1600200" indent="-228600"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4pPr>
              <a:lvl5pPr marL="2057400" indent="-228600"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5pPr>
              <a:lvl6pPr marL="2514600" indent="-228600" defTabSz="6826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6pPr>
              <a:lvl7pPr marL="2971800" indent="-228600" defTabSz="6826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7pPr>
              <a:lvl8pPr marL="3429000" indent="-228600" defTabSz="6826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8pPr>
              <a:lvl9pPr marL="3886200" indent="-228600" defTabSz="6826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ru-RU" altLang="ru-RU" sz="500" b="1" dirty="0" smtClean="0">
                  <a:latin typeface="+mn-lt"/>
                </a:rPr>
                <a:t>Шаг </a:t>
              </a:r>
              <a:r>
                <a:rPr lang="en-US" altLang="ru-RU" sz="500" b="1" dirty="0">
                  <a:latin typeface="+mn-lt"/>
                </a:rPr>
                <a:t>5</a:t>
              </a:r>
            </a:p>
          </p:txBody>
        </p:sp>
      </p:grpSp>
      <p:cxnSp>
        <p:nvCxnSpPr>
          <p:cNvPr id="209" name="AutoShape 3706"/>
          <p:cNvCxnSpPr>
            <a:cxnSpLocks noChangeShapeType="1"/>
            <a:stCxn id="198" idx="1"/>
            <a:endCxn id="204" idx="3"/>
          </p:cNvCxnSpPr>
          <p:nvPr/>
        </p:nvCxnSpPr>
        <p:spPr bwMode="auto">
          <a:xfrm flipH="1" flipV="1">
            <a:off x="1497011" y="2904810"/>
            <a:ext cx="349700" cy="1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1" name="AutoShape 98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920329" y="3270613"/>
            <a:ext cx="1079500" cy="431800"/>
          </a:xfrm>
          <a:prstGeom prst="diamond">
            <a:avLst/>
          </a:prstGeom>
          <a:solidFill>
            <a:schemeClr val="accent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lIns="75405" tIns="47883" rIns="94258" bIns="47883" anchor="ctr"/>
          <a:lstStyle>
            <a:lvl1pPr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/>
            <a:r>
              <a:rPr lang="ru-RU" altLang="ru-RU" sz="500" b="1" dirty="0" smtClean="0">
                <a:latin typeface="Arial" panose="020B0604020202020204" pitchFamily="34" charset="0"/>
              </a:rPr>
              <a:t>Инструмент является</a:t>
            </a:r>
            <a:endParaRPr lang="ru-RU" altLang="ru-RU" sz="500" b="1" dirty="0">
              <a:latin typeface="Arial" panose="020B0604020202020204" pitchFamily="34" charset="0"/>
            </a:endParaRPr>
          </a:p>
          <a:p>
            <a:pPr algn="ctr" eaLnBrk="1" hangingPunct="1"/>
            <a:r>
              <a:rPr lang="ru-RU" altLang="ru-RU" sz="500" b="1" dirty="0" smtClean="0">
                <a:latin typeface="Arial" panose="020B0604020202020204" pitchFamily="34" charset="0"/>
              </a:rPr>
              <a:t>объектом ОС?</a:t>
            </a:r>
            <a:endParaRPr lang="en-US" altLang="ru-RU" sz="500" b="1" dirty="0">
              <a:latin typeface="Arial" panose="020B0604020202020204" pitchFamily="34" charset="0"/>
            </a:endParaRPr>
          </a:p>
        </p:txBody>
      </p:sp>
      <p:cxnSp>
        <p:nvCxnSpPr>
          <p:cNvPr id="212" name="AutoShape 3706"/>
          <p:cNvCxnSpPr>
            <a:cxnSpLocks noChangeShapeType="1"/>
            <a:stCxn id="314" idx="2"/>
            <a:endCxn id="231" idx="2"/>
          </p:cNvCxnSpPr>
          <p:nvPr/>
        </p:nvCxnSpPr>
        <p:spPr bwMode="auto">
          <a:xfrm rot="5400000">
            <a:off x="4342983" y="3601237"/>
            <a:ext cx="200894" cy="331809"/>
          </a:xfrm>
          <a:prstGeom prst="bentConnector4">
            <a:avLst>
              <a:gd name="adj1" fmla="val 23133"/>
              <a:gd name="adj2" fmla="val 168895"/>
            </a:avLst>
          </a:prstGeom>
          <a:noFill/>
          <a:ln w="3175">
            <a:solidFill>
              <a:schemeClr val="tx1"/>
            </a:solidFill>
            <a:miter lim="800000"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6" name="Oval 52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277525" y="3939025"/>
            <a:ext cx="719137" cy="215900"/>
          </a:xfrm>
          <a:prstGeom prst="ellipse">
            <a:avLst/>
          </a:prstGeom>
          <a:pattFill prst="wdDnDiag">
            <a:fgClr>
              <a:srgbClr val="CCECFF"/>
            </a:fgClr>
            <a:bgClr>
              <a:srgbClr val="FFFFFF"/>
            </a:bgClr>
          </a:pattFill>
          <a:ln w="3175" algn="ctr">
            <a:solidFill>
              <a:schemeClr val="tx1"/>
            </a:solidFill>
            <a:round/>
            <a:headEnd/>
            <a:tailEnd/>
          </a:ln>
        </p:spPr>
        <p:txBody>
          <a:bodyPr wrap="none" lIns="68391" tIns="34195" rIns="68391" bIns="34195" anchor="ctr"/>
          <a:lstStyle>
            <a:lvl1pPr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/>
            <a:r>
              <a:rPr lang="ru-RU" altLang="ru-RU" sz="500" b="1" dirty="0">
                <a:latin typeface="Arial Narrow" panose="020B0606020202030204" pitchFamily="34" charset="0"/>
              </a:rPr>
              <a:t>Бухгалтерский </a:t>
            </a:r>
          </a:p>
          <a:p>
            <a:pPr algn="ctr" eaLnBrk="1" hangingPunct="1"/>
            <a:r>
              <a:rPr lang="ru-RU" altLang="ru-RU" sz="500" b="1" dirty="0">
                <a:latin typeface="Arial Narrow" panose="020B0606020202030204" pitchFamily="34" charset="0"/>
              </a:rPr>
              <a:t>учет и отчетность</a:t>
            </a:r>
            <a:endParaRPr lang="ru-RU" altLang="ru-RU" sz="500" dirty="0">
              <a:latin typeface="Arial Narrow" panose="020B0606020202030204" pitchFamily="34" charset="0"/>
            </a:endParaRPr>
          </a:p>
        </p:txBody>
      </p:sp>
      <p:sp>
        <p:nvSpPr>
          <p:cNvPr id="228" name="Text Box 3962"/>
          <p:cNvSpPr txBox="1">
            <a:spLocks noChangeArrowheads="1"/>
          </p:cNvSpPr>
          <p:nvPr/>
        </p:nvSpPr>
        <p:spPr bwMode="auto">
          <a:xfrm>
            <a:off x="3831368" y="3277149"/>
            <a:ext cx="399018" cy="173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5765" tIns="47883" rIns="95765" bIns="47883">
            <a:spAutoFit/>
          </a:bodyPr>
          <a:lstStyle>
            <a:lvl1pPr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500" dirty="0"/>
              <a:t>Да</a:t>
            </a:r>
          </a:p>
        </p:txBody>
      </p:sp>
      <p:sp>
        <p:nvSpPr>
          <p:cNvPr id="231" name="Oval 52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4277525" y="3759638"/>
            <a:ext cx="719137" cy="215900"/>
          </a:xfrm>
          <a:prstGeom prst="ellipse">
            <a:avLst/>
          </a:prstGeom>
          <a:solidFill>
            <a:srgbClr val="3366FF"/>
          </a:solidFill>
          <a:ln w="3175" algn="ctr">
            <a:solidFill>
              <a:schemeClr val="tx1"/>
            </a:solidFill>
            <a:round/>
            <a:headEnd/>
            <a:tailEnd/>
          </a:ln>
        </p:spPr>
        <p:txBody>
          <a:bodyPr wrap="none" lIns="68391" tIns="34195" rIns="68391" bIns="34195" anchor="ctr"/>
          <a:lstStyle>
            <a:lvl1pPr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/>
            <a:r>
              <a:rPr lang="ru-RU" altLang="ru-RU" sz="500" b="1" dirty="0">
                <a:solidFill>
                  <a:schemeClr val="bg1"/>
                </a:solidFill>
                <a:latin typeface="Arial Narrow" panose="020B0606020202030204" pitchFamily="34" charset="0"/>
              </a:rPr>
              <a:t>Бухгалтерский </a:t>
            </a:r>
          </a:p>
          <a:p>
            <a:pPr algn="ctr" eaLnBrk="1" hangingPunct="1"/>
            <a:r>
              <a:rPr lang="ru-RU" altLang="ru-RU" sz="500" b="1" dirty="0">
                <a:solidFill>
                  <a:schemeClr val="bg1"/>
                </a:solidFill>
                <a:latin typeface="Arial Narrow" panose="020B0606020202030204" pitchFamily="34" charset="0"/>
              </a:rPr>
              <a:t>учет и отчетность</a:t>
            </a:r>
            <a:endParaRPr lang="ru-RU" altLang="ru-RU" sz="5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234" name="AutoShape 3706"/>
          <p:cNvCxnSpPr>
            <a:cxnSpLocks noChangeShapeType="1"/>
            <a:stCxn id="198" idx="3"/>
            <a:endCxn id="256" idx="1"/>
          </p:cNvCxnSpPr>
          <p:nvPr/>
        </p:nvCxnSpPr>
        <p:spPr bwMode="auto">
          <a:xfrm>
            <a:off x="2732536" y="2904811"/>
            <a:ext cx="282301" cy="1797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" name="Rectangle 16596" descr="Светлый диагональный 1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3014837" y="2726426"/>
            <a:ext cx="885825" cy="360363"/>
          </a:xfrm>
          <a:prstGeom prst="rect">
            <a:avLst/>
          </a:prstGeom>
          <a:pattFill prst="ltDnDiag">
            <a:fgClr>
              <a:srgbClr val="FEDF5C"/>
            </a:fgClr>
            <a:bgClr>
              <a:srgbClr val="FFFFFF"/>
            </a:bgClr>
          </a:patt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>
            <a:lvl1pPr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endParaRPr lang="ru-RU" altLang="ru-RU" sz="500" b="1" dirty="0">
              <a:latin typeface="Arial" panose="020B0604020202020204" pitchFamily="34" charset="0"/>
            </a:endParaRPr>
          </a:p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Arial" panose="020B0604020202020204" pitchFamily="34" charset="0"/>
              </a:rPr>
              <a:t>Определение источника потребности в инструменте (МОЛ, Цех)</a:t>
            </a:r>
            <a:endParaRPr lang="en-GB" altLang="ru-RU" sz="500" b="1" dirty="0">
              <a:latin typeface="Arial" panose="020B0604020202020204" pitchFamily="34" charset="0"/>
            </a:endParaRPr>
          </a:p>
        </p:txBody>
      </p:sp>
      <p:cxnSp>
        <p:nvCxnSpPr>
          <p:cNvPr id="262" name="AutoShape 3706"/>
          <p:cNvCxnSpPr>
            <a:cxnSpLocks noChangeShapeType="1"/>
            <a:stCxn id="211" idx="3"/>
            <a:endCxn id="314" idx="1"/>
          </p:cNvCxnSpPr>
          <p:nvPr/>
        </p:nvCxnSpPr>
        <p:spPr bwMode="auto">
          <a:xfrm>
            <a:off x="3999829" y="3486513"/>
            <a:ext cx="166592" cy="0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1" name="Rectangle 16596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304495" y="5156552"/>
            <a:ext cx="885825" cy="360363"/>
          </a:xfrm>
          <a:prstGeom prst="rect">
            <a:avLst/>
          </a:prstGeom>
          <a:solidFill>
            <a:srgbClr val="FEDF5C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>
            <a:lvl1pPr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endParaRPr lang="en-US" altLang="ru-RU" sz="500" b="1" dirty="0" smtClean="0">
              <a:latin typeface="Arial" panose="020B0604020202020204" pitchFamily="34" charset="0"/>
            </a:endParaRPr>
          </a:p>
          <a:p>
            <a:pPr algn="ctr" eaLnBrk="1" hangingPunct="1">
              <a:lnSpc>
                <a:spcPct val="80000"/>
              </a:lnSpc>
            </a:pPr>
            <a:r>
              <a:rPr lang="en-US" altLang="ru-RU" sz="500" b="1" dirty="0" err="1" smtClean="0">
                <a:latin typeface="Arial" panose="020B0604020202020204" pitchFamily="34" charset="0"/>
              </a:rPr>
              <a:t>Pickslip</a:t>
            </a:r>
            <a:r>
              <a:rPr lang="en-US" altLang="ru-RU" sz="500" b="1" dirty="0" smtClean="0">
                <a:latin typeface="Arial" panose="020B0604020202020204" pitchFamily="34" charset="0"/>
              </a:rPr>
              <a:t> </a:t>
            </a:r>
            <a:r>
              <a:rPr lang="ru-RU" altLang="ru-RU" sz="500" b="1" dirty="0" smtClean="0">
                <a:latin typeface="Arial" panose="020B0604020202020204" pitchFamily="34" charset="0"/>
              </a:rPr>
              <a:t>на списание со склада </a:t>
            </a:r>
            <a:r>
              <a:rPr lang="en-US" altLang="ru-RU" sz="500" b="1" dirty="0" smtClean="0">
                <a:latin typeface="Arial" panose="020B0604020202020204" pitchFamily="34" charset="0"/>
              </a:rPr>
              <a:t>TOOLS </a:t>
            </a:r>
            <a:r>
              <a:rPr lang="ru-RU" altLang="ru-RU" sz="500" b="1" dirty="0" smtClean="0">
                <a:latin typeface="Arial" panose="020B0604020202020204" pitchFamily="34" charset="0"/>
              </a:rPr>
              <a:t>на МВЗ</a:t>
            </a:r>
            <a:endParaRPr lang="en-GB" altLang="ru-RU" sz="500" b="1" dirty="0">
              <a:latin typeface="Arial" panose="020B0604020202020204" pitchFamily="34" charset="0"/>
            </a:endParaRPr>
          </a:p>
        </p:txBody>
      </p:sp>
      <p:sp>
        <p:nvSpPr>
          <p:cNvPr id="302" name="Rectangle 16597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5928707" y="5434163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Шаг</a:t>
            </a:r>
            <a:r>
              <a:rPr lang="en-US" altLang="ru-RU" sz="500" b="1" dirty="0" smtClean="0">
                <a:latin typeface="+mn-lt"/>
              </a:rPr>
              <a:t> </a:t>
            </a:r>
            <a:r>
              <a:rPr lang="en-US" altLang="ru-RU" sz="500" b="1" dirty="0" smtClean="0"/>
              <a:t>7.9</a:t>
            </a:r>
            <a:endParaRPr lang="en-US" altLang="ru-RU" sz="500" b="1" dirty="0"/>
          </a:p>
        </p:txBody>
      </p:sp>
      <p:sp>
        <p:nvSpPr>
          <p:cNvPr id="303" name="Rectangle 16597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307035" y="5438229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230</a:t>
            </a:r>
            <a:endParaRPr lang="en-US" altLang="ru-RU" sz="500" b="1" dirty="0"/>
          </a:p>
        </p:txBody>
      </p:sp>
      <p:sp>
        <p:nvSpPr>
          <p:cNvPr id="314" name="Rectangle 16596" descr="Светлый диагональный 1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4166421" y="3306331"/>
            <a:ext cx="885825" cy="360363"/>
          </a:xfrm>
          <a:prstGeom prst="rect">
            <a:avLst/>
          </a:prstGeom>
          <a:pattFill prst="ltDnDiag">
            <a:fgClr>
              <a:srgbClr val="FEDF5C"/>
            </a:fgClr>
            <a:bgClr>
              <a:srgbClr val="FFFFFF"/>
            </a:bgClr>
          </a:patt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>
            <a:lvl1pPr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endParaRPr lang="ru-RU" altLang="ru-RU" sz="500" b="1" dirty="0">
              <a:latin typeface="Arial" panose="020B0604020202020204" pitchFamily="34" charset="0"/>
            </a:endParaRPr>
          </a:p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Arial" panose="020B0604020202020204" pitchFamily="34" charset="0"/>
              </a:rPr>
              <a:t>Запрос в ДБУ на создание карточки ОС для инструмента</a:t>
            </a:r>
            <a:endParaRPr lang="en-GB" altLang="ru-RU" sz="500" b="1" dirty="0">
              <a:latin typeface="Arial" panose="020B0604020202020204" pitchFamily="34" charset="0"/>
            </a:endParaRPr>
          </a:p>
        </p:txBody>
      </p:sp>
      <p:grpSp>
        <p:nvGrpSpPr>
          <p:cNvPr id="322" name="Group 3719"/>
          <p:cNvGrpSpPr>
            <a:grpSpLocks/>
          </p:cNvGrpSpPr>
          <p:nvPr/>
        </p:nvGrpSpPr>
        <p:grpSpPr bwMode="auto">
          <a:xfrm>
            <a:off x="5273124" y="3305937"/>
            <a:ext cx="885825" cy="360362"/>
            <a:chOff x="2268" y="2642"/>
            <a:chExt cx="1758" cy="594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23" name="Rectangle 16596"/>
            <p:cNvSpPr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2268" y="2642"/>
              <a:ext cx="1758" cy="594"/>
            </a:xfrm>
            <a:prstGeom prst="rect">
              <a:avLst/>
            </a:prstGeom>
            <a:grpFill/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318" tIns="35006" rIns="67318" bIns="35006"/>
            <a:lstStyle>
              <a:lvl1pPr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1pPr>
              <a:lvl2pPr marL="742950" indent="-285750"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2pPr>
              <a:lvl3pPr marL="1143000" indent="-228600"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3pPr>
              <a:lvl4pPr marL="1600200" indent="-228600"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4pPr>
              <a:lvl5pPr marL="2057400" indent="-228600"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5pPr>
              <a:lvl6pPr marL="2514600" indent="-228600" defTabSz="6826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6pPr>
              <a:lvl7pPr marL="2971800" indent="-228600" defTabSz="6826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7pPr>
              <a:lvl8pPr marL="3429000" indent="-228600" defTabSz="6826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8pPr>
              <a:lvl9pPr marL="3886200" indent="-228600" defTabSz="6826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endParaRPr lang="en-US" altLang="ru-RU" sz="500" b="1" dirty="0" smtClean="0">
                <a:latin typeface="Arial" panose="020B0604020202020204" pitchFamily="34" charset="0"/>
              </a:endParaRPr>
            </a:p>
            <a:p>
              <a:pPr algn="ctr" eaLnBrk="1" hangingPunct="1">
                <a:lnSpc>
                  <a:spcPct val="80000"/>
                </a:lnSpc>
              </a:pPr>
              <a:r>
                <a:rPr lang="ru-RU" altLang="ru-RU" sz="500" b="1" dirty="0" smtClean="0">
                  <a:latin typeface="Arial" panose="020B0604020202020204" pitchFamily="34" charset="0"/>
                </a:rPr>
                <a:t>Списание на карточку ОС, 241 </a:t>
              </a:r>
              <a:r>
                <a:rPr lang="ru-RU" altLang="ru-RU" sz="500" b="1" dirty="0" err="1" smtClean="0">
                  <a:latin typeface="Arial" panose="020B0604020202020204" pitchFamily="34" charset="0"/>
                </a:rPr>
                <a:t>ВДв</a:t>
              </a:r>
              <a:r>
                <a:rPr lang="ru-RU" altLang="ru-RU" sz="500" b="1" dirty="0" smtClean="0">
                  <a:latin typeface="Arial" panose="020B0604020202020204" pitchFamily="34" charset="0"/>
                </a:rPr>
                <a:t> </a:t>
              </a:r>
              <a:r>
                <a:rPr lang="en-US" altLang="ru-RU" sz="500" b="1" dirty="0" smtClean="0">
                  <a:latin typeface="Arial" panose="020B0604020202020204" pitchFamily="34" charset="0"/>
                </a:rPr>
                <a:t>SAP ERP</a:t>
              </a:r>
              <a:endParaRPr lang="en-US" altLang="ru-RU" sz="500" b="1" dirty="0">
                <a:latin typeface="Arial" panose="020B0604020202020204" pitchFamily="34" charset="0"/>
              </a:endParaRPr>
            </a:p>
          </p:txBody>
        </p:sp>
        <p:sp>
          <p:nvSpPr>
            <p:cNvPr id="324" name="Rectangle 16597"/>
            <p:cNvSpPr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2268" y="3100"/>
              <a:ext cx="514" cy="136"/>
            </a:xfrm>
            <a:prstGeom prst="rect">
              <a:avLst/>
            </a:prstGeom>
            <a:solidFill>
              <a:schemeClr val="accent2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7318" tIns="18000" rIns="67318" bIns="35006"/>
            <a:lstStyle>
              <a:lvl1pPr marL="34925" indent="-34925"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1pPr>
              <a:lvl2pPr marL="742950" indent="-285750"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2pPr>
              <a:lvl3pPr marL="1143000" indent="-228600"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3pPr>
              <a:lvl4pPr marL="1600200" indent="-228600"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4pPr>
              <a:lvl5pPr marL="2057400" indent="-228600"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5pPr>
              <a:lvl6pPr marL="2514600" indent="-228600" defTabSz="6826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6pPr>
              <a:lvl7pPr marL="2971800" indent="-228600" defTabSz="6826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7pPr>
              <a:lvl8pPr marL="3429000" indent="-228600" defTabSz="6826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8pPr>
              <a:lvl9pPr marL="3886200" indent="-228600" defTabSz="6826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ru-RU" sz="500" b="1" dirty="0" smtClean="0"/>
                <a:t>MIGO</a:t>
              </a:r>
              <a:endParaRPr lang="en-US" altLang="ru-RU" sz="500" b="1" dirty="0"/>
            </a:p>
          </p:txBody>
        </p:sp>
        <p:sp>
          <p:nvSpPr>
            <p:cNvPr id="326" name="Rectangle 16597"/>
            <p:cNvSpPr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3512" y="3100"/>
              <a:ext cx="514" cy="136"/>
            </a:xfrm>
            <a:prstGeom prst="rect">
              <a:avLst/>
            </a:prstGeom>
            <a:solidFill>
              <a:schemeClr val="accent2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7318" tIns="7200" rIns="67318" bIns="35006"/>
            <a:lstStyle>
              <a:lvl1pPr marL="34925" indent="-34925"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1pPr>
              <a:lvl2pPr marL="742950" indent="-285750"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2pPr>
              <a:lvl3pPr marL="1143000" indent="-228600"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3pPr>
              <a:lvl4pPr marL="1600200" indent="-228600"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4pPr>
              <a:lvl5pPr marL="2057400" indent="-228600" defTabSz="682625" eaLnBrk="0" hangingPunct="0"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5pPr>
              <a:lvl6pPr marL="2514600" indent="-228600" defTabSz="6826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6pPr>
              <a:lvl7pPr marL="2971800" indent="-228600" defTabSz="6826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7pPr>
              <a:lvl8pPr marL="3429000" indent="-228600" defTabSz="6826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8pPr>
              <a:lvl9pPr marL="3886200" indent="-228600" defTabSz="682625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Arial Unicode MS" pitchFamily="34" charset="-128"/>
                  <a:ea typeface="Arial Unicode MS" pitchFamily="34" charset="-128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ru-RU" altLang="ru-RU" sz="500" b="1" dirty="0" smtClean="0">
                  <a:latin typeface="+mn-lt"/>
                </a:rPr>
                <a:t>Шаг </a:t>
              </a:r>
              <a:r>
                <a:rPr lang="en-US" altLang="ru-RU" sz="500" b="1" dirty="0" smtClean="0">
                  <a:latin typeface="+mn-lt"/>
                </a:rPr>
                <a:t>7.3</a:t>
              </a:r>
              <a:endParaRPr lang="en-US" altLang="ru-RU" sz="500" b="1" dirty="0">
                <a:latin typeface="+mn-lt"/>
              </a:endParaRPr>
            </a:p>
          </p:txBody>
        </p:sp>
      </p:grpSp>
      <p:cxnSp>
        <p:nvCxnSpPr>
          <p:cNvPr id="327" name="AutoShape 3706"/>
          <p:cNvCxnSpPr>
            <a:cxnSpLocks noChangeShapeType="1"/>
            <a:stCxn id="314" idx="3"/>
            <a:endCxn id="323" idx="1"/>
          </p:cNvCxnSpPr>
          <p:nvPr/>
        </p:nvCxnSpPr>
        <p:spPr bwMode="auto">
          <a:xfrm flipV="1">
            <a:off x="5052246" y="3486118"/>
            <a:ext cx="220878" cy="395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4" name="AutoShape 98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2923602" y="4094104"/>
            <a:ext cx="1079500" cy="431800"/>
          </a:xfrm>
          <a:prstGeom prst="diamond">
            <a:avLst/>
          </a:prstGeom>
          <a:solidFill>
            <a:schemeClr val="accent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lIns="75405" tIns="47883" rIns="94258" bIns="47883" anchor="ctr"/>
          <a:lstStyle>
            <a:lvl1pPr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/>
            <a:r>
              <a:rPr lang="ru-RU" altLang="ru-RU" sz="500" b="1" dirty="0" smtClean="0">
                <a:latin typeface="Arial" panose="020B0604020202020204" pitchFamily="34" charset="0"/>
              </a:rPr>
              <a:t>Требуется для ТО ВС?</a:t>
            </a:r>
          </a:p>
          <a:p>
            <a:pPr algn="ctr" eaLnBrk="1" hangingPunct="1"/>
            <a:r>
              <a:rPr lang="ru-RU" altLang="ru-RU" sz="500" b="1" dirty="0" smtClean="0">
                <a:latin typeface="Arial" panose="020B0604020202020204" pitchFamily="34" charset="0"/>
              </a:rPr>
              <a:t>Учет в </a:t>
            </a:r>
            <a:r>
              <a:rPr lang="en-US" altLang="ru-RU" sz="500" b="1" dirty="0" smtClean="0">
                <a:latin typeface="Arial" panose="020B0604020202020204" pitchFamily="34" charset="0"/>
              </a:rPr>
              <a:t>AMOS </a:t>
            </a:r>
            <a:r>
              <a:rPr lang="en-US" altLang="ru-RU" sz="500" b="1" dirty="0" err="1" smtClean="0">
                <a:latin typeface="Arial" panose="020B0604020202020204" pitchFamily="34" charset="0"/>
              </a:rPr>
              <a:t>ListOfTl</a:t>
            </a:r>
            <a:endParaRPr lang="en-US" altLang="ru-RU" sz="500" b="1" dirty="0">
              <a:latin typeface="Arial" panose="020B0604020202020204" pitchFamily="34" charset="0"/>
            </a:endParaRPr>
          </a:p>
        </p:txBody>
      </p:sp>
      <p:sp>
        <p:nvSpPr>
          <p:cNvPr id="339" name="Rectangle 16596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1846711" y="4129159"/>
            <a:ext cx="885825" cy="360363"/>
          </a:xfrm>
          <a:prstGeom prst="rect">
            <a:avLst/>
          </a:prstGeom>
          <a:solidFill>
            <a:srgbClr val="FEDF5C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>
            <a:lvl1pPr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endParaRPr lang="ru-RU" altLang="ru-RU" sz="500" b="1" dirty="0"/>
          </a:p>
          <a:p>
            <a:pPr algn="ctr" eaLnBrk="1" hangingPunct="1">
              <a:lnSpc>
                <a:spcPct val="80000"/>
              </a:lnSpc>
            </a:pPr>
            <a:r>
              <a:rPr lang="en-US" altLang="ru-RU" sz="500" b="1" dirty="0" err="1" smtClean="0">
                <a:latin typeface="Arial" panose="020B0604020202020204" pitchFamily="34" charset="0"/>
              </a:rPr>
              <a:t>Pickslip</a:t>
            </a:r>
            <a:r>
              <a:rPr lang="en-US" altLang="ru-RU" sz="500" b="1" dirty="0" smtClean="0">
                <a:latin typeface="Arial" panose="020B0604020202020204" pitchFamily="34" charset="0"/>
              </a:rPr>
              <a:t> Request /</a:t>
            </a:r>
            <a:r>
              <a:rPr lang="ru-RU" altLang="ru-RU" sz="500" b="1" dirty="0" smtClean="0">
                <a:latin typeface="Arial" panose="020B0604020202020204" pitchFamily="34" charset="0"/>
              </a:rPr>
              <a:t> Запрос на перемещение</a:t>
            </a:r>
            <a:endParaRPr lang="en-GB" altLang="ru-RU" sz="500" b="1" dirty="0">
              <a:latin typeface="Arial" panose="020B0604020202020204" pitchFamily="34" charset="0"/>
            </a:endParaRPr>
          </a:p>
        </p:txBody>
      </p:sp>
      <p:sp>
        <p:nvSpPr>
          <p:cNvPr id="340" name="Rectangle 16597"/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2473456" y="4406972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Шаг 8</a:t>
            </a:r>
            <a:endParaRPr lang="en-US" altLang="ru-RU" sz="500" b="1" dirty="0"/>
          </a:p>
        </p:txBody>
      </p:sp>
      <p:sp>
        <p:nvSpPr>
          <p:cNvPr id="341" name="Rectangle 16597"/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1846711" y="4407558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225</a:t>
            </a:r>
            <a:endParaRPr lang="en-US" altLang="ru-RU" sz="500" b="1" dirty="0"/>
          </a:p>
        </p:txBody>
      </p:sp>
      <p:sp>
        <p:nvSpPr>
          <p:cNvPr id="342" name="Rectangle 16596"/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1846539" y="4650188"/>
            <a:ext cx="885825" cy="360363"/>
          </a:xfrm>
          <a:prstGeom prst="rect">
            <a:avLst/>
          </a:prstGeom>
          <a:solidFill>
            <a:srgbClr val="FEDF5C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>
            <a:lvl1pPr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endParaRPr lang="ru-RU" altLang="ru-RU" sz="500" b="1" dirty="0"/>
          </a:p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Arial" panose="020B0604020202020204" pitchFamily="34" charset="0"/>
              </a:rPr>
              <a:t>Отпуск со склада </a:t>
            </a:r>
            <a:r>
              <a:rPr lang="en-US" altLang="ru-RU" sz="500" b="1" dirty="0" smtClean="0">
                <a:latin typeface="Arial" panose="020B0604020202020204" pitchFamily="34" charset="0"/>
              </a:rPr>
              <a:t>TOOLS</a:t>
            </a:r>
            <a:r>
              <a:rPr lang="ru-RU" altLang="ru-RU" sz="500" b="1" dirty="0" smtClean="0">
                <a:latin typeface="Arial" panose="020B0604020202020204" pitchFamily="34" charset="0"/>
              </a:rPr>
              <a:t> </a:t>
            </a:r>
            <a:endParaRPr lang="en-GB" altLang="ru-RU" sz="500" b="1" dirty="0">
              <a:latin typeface="Arial" panose="020B0604020202020204" pitchFamily="34" charset="0"/>
            </a:endParaRPr>
          </a:p>
        </p:txBody>
      </p:sp>
      <p:sp>
        <p:nvSpPr>
          <p:cNvPr id="343" name="Rectangle 16597"/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2473284" y="4928001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Шаг 8.1</a:t>
            </a:r>
            <a:endParaRPr lang="en-US" altLang="ru-RU" sz="500" b="1" dirty="0"/>
          </a:p>
        </p:txBody>
      </p:sp>
      <p:sp>
        <p:nvSpPr>
          <p:cNvPr id="344" name="Rectangle 16597"/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1846539" y="4928587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230</a:t>
            </a:r>
            <a:endParaRPr lang="en-US" altLang="ru-RU" sz="500" b="1" dirty="0"/>
          </a:p>
        </p:txBody>
      </p:sp>
      <p:cxnSp>
        <p:nvCxnSpPr>
          <p:cNvPr id="345" name="AutoShape 3706"/>
          <p:cNvCxnSpPr>
            <a:cxnSpLocks noChangeShapeType="1"/>
            <a:stCxn id="339" idx="2"/>
            <a:endCxn id="342" idx="0"/>
          </p:cNvCxnSpPr>
          <p:nvPr/>
        </p:nvCxnSpPr>
        <p:spPr bwMode="auto">
          <a:xfrm flipH="1">
            <a:off x="2289452" y="4489522"/>
            <a:ext cx="172" cy="160666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6" name="Rectangle 16596"/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1846453" y="5163423"/>
            <a:ext cx="885825" cy="360363"/>
          </a:xfrm>
          <a:prstGeom prst="rect">
            <a:avLst/>
          </a:prstGeom>
          <a:solidFill>
            <a:srgbClr val="FEDF5C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>
            <a:lvl1pPr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endParaRPr lang="ru-RU" altLang="ru-RU" sz="500" b="1" dirty="0"/>
          </a:p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Arial" panose="020B0604020202020204" pitchFamily="34" charset="0"/>
              </a:rPr>
              <a:t> Получение на склад МОЛ</a:t>
            </a:r>
            <a:r>
              <a:rPr lang="en-US" altLang="ru-RU" sz="500" b="1" dirty="0" smtClean="0">
                <a:latin typeface="Arial" panose="020B0604020202020204" pitchFamily="34" charset="0"/>
              </a:rPr>
              <a:t> 302*</a:t>
            </a:r>
            <a:endParaRPr lang="en-GB" altLang="ru-RU" sz="500" b="1" dirty="0">
              <a:latin typeface="Arial" panose="020B0604020202020204" pitchFamily="34" charset="0"/>
            </a:endParaRPr>
          </a:p>
        </p:txBody>
      </p:sp>
      <p:sp>
        <p:nvSpPr>
          <p:cNvPr id="347" name="Rectangle 16597"/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2473198" y="5441236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Шаг 8.2</a:t>
            </a:r>
            <a:endParaRPr lang="en-US" altLang="ru-RU" sz="500" b="1" dirty="0"/>
          </a:p>
        </p:txBody>
      </p:sp>
      <p:sp>
        <p:nvSpPr>
          <p:cNvPr id="348" name="Rectangle 16597"/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1846453" y="5441822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230</a:t>
            </a:r>
            <a:endParaRPr lang="en-US" altLang="ru-RU" sz="500" b="1" dirty="0"/>
          </a:p>
        </p:txBody>
      </p:sp>
      <p:cxnSp>
        <p:nvCxnSpPr>
          <p:cNvPr id="350" name="AutoShape 3706"/>
          <p:cNvCxnSpPr>
            <a:cxnSpLocks noChangeShapeType="1"/>
            <a:stCxn id="342" idx="2"/>
            <a:endCxn id="346" idx="0"/>
          </p:cNvCxnSpPr>
          <p:nvPr/>
        </p:nvCxnSpPr>
        <p:spPr bwMode="auto">
          <a:xfrm flipH="1">
            <a:off x="2289366" y="5010551"/>
            <a:ext cx="86" cy="152872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3" name="AutoShape 3706"/>
          <p:cNvCxnSpPr>
            <a:cxnSpLocks noChangeShapeType="1"/>
            <a:stCxn id="256" idx="2"/>
            <a:endCxn id="211" idx="0"/>
          </p:cNvCxnSpPr>
          <p:nvPr/>
        </p:nvCxnSpPr>
        <p:spPr bwMode="auto">
          <a:xfrm>
            <a:off x="3457750" y="3086789"/>
            <a:ext cx="2329" cy="183824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4" name="Text Box 3962"/>
          <p:cNvSpPr txBox="1">
            <a:spLocks noChangeArrowheads="1"/>
          </p:cNvSpPr>
          <p:nvPr/>
        </p:nvSpPr>
        <p:spPr bwMode="auto">
          <a:xfrm>
            <a:off x="3114442" y="3732445"/>
            <a:ext cx="399018" cy="173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5765" tIns="47883" rIns="95765" bIns="47883">
            <a:spAutoFit/>
          </a:bodyPr>
          <a:lstStyle>
            <a:lvl1pPr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500" dirty="0" smtClean="0">
                <a:latin typeface="+mn-lt"/>
              </a:rPr>
              <a:t>Нет</a:t>
            </a:r>
            <a:endParaRPr lang="ru-RU" altLang="ru-RU" sz="500" dirty="0">
              <a:latin typeface="+mn-lt"/>
            </a:endParaRPr>
          </a:p>
        </p:txBody>
      </p:sp>
      <p:cxnSp>
        <p:nvCxnSpPr>
          <p:cNvPr id="357" name="AutoShape 3706"/>
          <p:cNvCxnSpPr>
            <a:cxnSpLocks noChangeShapeType="1"/>
            <a:stCxn id="323" idx="2"/>
            <a:endCxn id="334" idx="3"/>
          </p:cNvCxnSpPr>
          <p:nvPr/>
        </p:nvCxnSpPr>
        <p:spPr bwMode="auto">
          <a:xfrm rot="5400000">
            <a:off x="4537718" y="3131684"/>
            <a:ext cx="643705" cy="1712935"/>
          </a:xfrm>
          <a:prstGeom prst="bentConnector2">
            <a:avLst/>
          </a:prstGeom>
          <a:noFill/>
          <a:ln w="3175">
            <a:solidFill>
              <a:schemeClr val="tx1"/>
            </a:solidFill>
            <a:miter lim="800000"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3" name="AutoShape 3706"/>
          <p:cNvCxnSpPr>
            <a:cxnSpLocks noChangeShapeType="1"/>
            <a:stCxn id="211" idx="2"/>
            <a:endCxn id="334" idx="0"/>
          </p:cNvCxnSpPr>
          <p:nvPr/>
        </p:nvCxnSpPr>
        <p:spPr bwMode="auto">
          <a:xfrm>
            <a:off x="3460079" y="3702413"/>
            <a:ext cx="3273" cy="391691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7" name="AutoShape 3706"/>
          <p:cNvCxnSpPr>
            <a:cxnSpLocks noChangeShapeType="1"/>
            <a:stCxn id="334" idx="1"/>
            <a:endCxn id="339" idx="3"/>
          </p:cNvCxnSpPr>
          <p:nvPr/>
        </p:nvCxnSpPr>
        <p:spPr bwMode="auto">
          <a:xfrm flipH="1" flipV="1">
            <a:off x="2732536" y="4309341"/>
            <a:ext cx="191066" cy="663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1" name="Text Box 3962"/>
          <p:cNvSpPr txBox="1">
            <a:spLocks noChangeArrowheads="1"/>
          </p:cNvSpPr>
          <p:nvPr/>
        </p:nvSpPr>
        <p:spPr bwMode="auto">
          <a:xfrm>
            <a:off x="2653443" y="4083612"/>
            <a:ext cx="399018" cy="173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5765" tIns="47883" rIns="95765" bIns="47883">
            <a:spAutoFit/>
          </a:bodyPr>
          <a:lstStyle>
            <a:lvl1pPr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500" dirty="0"/>
              <a:t>Да</a:t>
            </a:r>
          </a:p>
        </p:txBody>
      </p:sp>
      <p:sp>
        <p:nvSpPr>
          <p:cNvPr id="377" name="Text Box 3962"/>
          <p:cNvSpPr txBox="1">
            <a:spLocks noChangeArrowheads="1"/>
          </p:cNvSpPr>
          <p:nvPr/>
        </p:nvSpPr>
        <p:spPr bwMode="auto">
          <a:xfrm>
            <a:off x="3999829" y="4388356"/>
            <a:ext cx="399018" cy="173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5765" tIns="47883" rIns="95765" bIns="47883">
            <a:spAutoFit/>
          </a:bodyPr>
          <a:lstStyle>
            <a:lvl1pPr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500" dirty="0" smtClean="0">
                <a:latin typeface="+mn-lt"/>
              </a:rPr>
              <a:t>Нет</a:t>
            </a:r>
            <a:endParaRPr lang="ru-RU" altLang="ru-RU" sz="500" dirty="0">
              <a:latin typeface="+mn-lt"/>
            </a:endParaRPr>
          </a:p>
        </p:txBody>
      </p:sp>
      <p:sp>
        <p:nvSpPr>
          <p:cNvPr id="378" name="AutoShape 98"/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4074540" y="4657097"/>
            <a:ext cx="1079500" cy="431800"/>
          </a:xfrm>
          <a:prstGeom prst="diamond">
            <a:avLst/>
          </a:prstGeom>
          <a:solidFill>
            <a:schemeClr val="accent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lIns="75405" tIns="47883" rIns="94258" bIns="47883" anchor="ctr"/>
          <a:lstStyle>
            <a:lvl1pPr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/>
            <a:r>
              <a:rPr lang="ru-RU" altLang="ru-RU" sz="500" b="1" dirty="0" smtClean="0">
                <a:latin typeface="Arial" panose="020B0604020202020204" pitchFamily="34" charset="0"/>
              </a:rPr>
              <a:t>Расходный материал?</a:t>
            </a:r>
            <a:endParaRPr lang="en-US" altLang="ru-RU" sz="500" b="1" dirty="0" smtClean="0">
              <a:latin typeface="Arial" panose="020B0604020202020204" pitchFamily="34" charset="0"/>
            </a:endParaRPr>
          </a:p>
          <a:p>
            <a:pPr algn="ctr" eaLnBrk="1" hangingPunct="1"/>
            <a:r>
              <a:rPr lang="ru-RU" altLang="ru-RU" sz="500" b="1" dirty="0" smtClean="0">
                <a:latin typeface="Arial" panose="020B0604020202020204" pitchFamily="34" charset="0"/>
              </a:rPr>
              <a:t>Класс материала </a:t>
            </a:r>
            <a:r>
              <a:rPr lang="en-US" altLang="ru-RU" sz="500" b="1" dirty="0" smtClean="0">
                <a:latin typeface="Arial" panose="020B0604020202020204" pitchFamily="34" charset="0"/>
              </a:rPr>
              <a:t>C/CR</a:t>
            </a:r>
            <a:endParaRPr lang="en-US" altLang="ru-RU" sz="500" b="1" dirty="0">
              <a:latin typeface="Arial" panose="020B0604020202020204" pitchFamily="34" charset="0"/>
            </a:endParaRPr>
          </a:p>
        </p:txBody>
      </p:sp>
      <p:sp>
        <p:nvSpPr>
          <p:cNvPr id="379" name="Text Box 3962"/>
          <p:cNvSpPr txBox="1">
            <a:spLocks noChangeArrowheads="1"/>
          </p:cNvSpPr>
          <p:nvPr/>
        </p:nvSpPr>
        <p:spPr bwMode="auto">
          <a:xfrm>
            <a:off x="5120245" y="4720578"/>
            <a:ext cx="399018" cy="173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5765" tIns="47883" rIns="95765" bIns="47883">
            <a:spAutoFit/>
          </a:bodyPr>
          <a:lstStyle>
            <a:lvl1pPr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500" dirty="0" smtClean="0">
                <a:latin typeface="+mn-lt"/>
              </a:rPr>
              <a:t>Да</a:t>
            </a:r>
            <a:endParaRPr lang="ru-RU" altLang="ru-RU" sz="500" dirty="0">
              <a:latin typeface="+mn-lt"/>
            </a:endParaRPr>
          </a:p>
        </p:txBody>
      </p:sp>
      <p:cxnSp>
        <p:nvCxnSpPr>
          <p:cNvPr id="382" name="AutoShape 3706"/>
          <p:cNvCxnSpPr>
            <a:cxnSpLocks noChangeShapeType="1"/>
            <a:stCxn id="334" idx="2"/>
            <a:endCxn id="378" idx="0"/>
          </p:cNvCxnSpPr>
          <p:nvPr/>
        </p:nvCxnSpPr>
        <p:spPr bwMode="auto">
          <a:xfrm rot="16200000" flipH="1">
            <a:off x="3973225" y="4016031"/>
            <a:ext cx="131193" cy="1150938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miter lim="800000"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" name="AutoShape 3706"/>
          <p:cNvCxnSpPr>
            <a:cxnSpLocks noChangeShapeType="1"/>
            <a:stCxn id="378" idx="3"/>
            <a:endCxn id="301" idx="0"/>
          </p:cNvCxnSpPr>
          <p:nvPr/>
        </p:nvCxnSpPr>
        <p:spPr bwMode="auto">
          <a:xfrm>
            <a:off x="5154040" y="4872997"/>
            <a:ext cx="593368" cy="283555"/>
          </a:xfrm>
          <a:prstGeom prst="bentConnector2">
            <a:avLst/>
          </a:prstGeom>
          <a:noFill/>
          <a:ln w="3175">
            <a:solidFill>
              <a:schemeClr val="tx1"/>
            </a:solidFill>
            <a:miter lim="800000"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3" name="AutoShape 3706"/>
          <p:cNvCxnSpPr>
            <a:cxnSpLocks noChangeShapeType="1"/>
            <a:stCxn id="378" idx="1"/>
            <a:endCxn id="398" idx="0"/>
          </p:cNvCxnSpPr>
          <p:nvPr/>
        </p:nvCxnSpPr>
        <p:spPr bwMode="auto">
          <a:xfrm rot="10800000" flipV="1">
            <a:off x="3470792" y="4872996"/>
            <a:ext cx="603748" cy="283907"/>
          </a:xfrm>
          <a:prstGeom prst="bentConnector2">
            <a:avLst/>
          </a:prstGeom>
          <a:noFill/>
          <a:ln w="3175">
            <a:solidFill>
              <a:schemeClr val="tx1"/>
            </a:solidFill>
            <a:miter lim="800000"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6" name="Text Box 3962"/>
          <p:cNvSpPr txBox="1">
            <a:spLocks noChangeArrowheads="1"/>
          </p:cNvSpPr>
          <p:nvPr/>
        </p:nvSpPr>
        <p:spPr bwMode="auto">
          <a:xfrm>
            <a:off x="3672785" y="4706460"/>
            <a:ext cx="399018" cy="173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5765" tIns="47883" rIns="95765" bIns="47883">
            <a:spAutoFit/>
          </a:bodyPr>
          <a:lstStyle>
            <a:lvl1pPr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500" dirty="0" smtClean="0">
                <a:latin typeface="+mn-lt"/>
              </a:rPr>
              <a:t>Нет</a:t>
            </a:r>
            <a:endParaRPr lang="ru-RU" altLang="ru-RU" sz="500" dirty="0">
              <a:latin typeface="+mn-lt"/>
            </a:endParaRPr>
          </a:p>
        </p:txBody>
      </p:sp>
      <p:sp>
        <p:nvSpPr>
          <p:cNvPr id="398" name="Rectangle 16596"/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3027879" y="5156904"/>
            <a:ext cx="885825" cy="360363"/>
          </a:xfrm>
          <a:prstGeom prst="rect">
            <a:avLst/>
          </a:prstGeom>
          <a:solidFill>
            <a:srgbClr val="FEDF5C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>
            <a:lvl1pPr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endParaRPr lang="en-US" altLang="ru-RU" sz="500" b="1" dirty="0" smtClean="0">
              <a:latin typeface="Arial" panose="020B0604020202020204" pitchFamily="34" charset="0"/>
            </a:endParaRPr>
          </a:p>
          <a:p>
            <a:pPr algn="ctr" eaLnBrk="1" hangingPunct="1">
              <a:lnSpc>
                <a:spcPct val="80000"/>
              </a:lnSpc>
            </a:pPr>
            <a:r>
              <a:rPr lang="en-US" altLang="ru-RU" sz="500" b="1" dirty="0" smtClean="0">
                <a:latin typeface="Arial" panose="020B0604020202020204" pitchFamily="34" charset="0"/>
              </a:rPr>
              <a:t>Parts Transfer </a:t>
            </a:r>
            <a:r>
              <a:rPr lang="ru-RU" altLang="ru-RU" sz="500" b="1" dirty="0" smtClean="0">
                <a:latin typeface="Arial" panose="020B0604020202020204" pitchFamily="34" charset="0"/>
              </a:rPr>
              <a:t>на локацию ВНЕ </a:t>
            </a:r>
            <a:r>
              <a:rPr lang="en-US" altLang="ru-RU" sz="500" b="1" dirty="0" smtClean="0">
                <a:latin typeface="Arial" panose="020B0604020202020204" pitchFamily="34" charset="0"/>
              </a:rPr>
              <a:t>AMOS.</a:t>
            </a:r>
            <a:endParaRPr lang="en-GB" altLang="ru-RU" sz="500" b="1" dirty="0">
              <a:latin typeface="Arial" panose="020B0604020202020204" pitchFamily="34" charset="0"/>
            </a:endParaRPr>
          </a:p>
        </p:txBody>
      </p:sp>
      <p:sp>
        <p:nvSpPr>
          <p:cNvPr id="399" name="Rectangle 16597"/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3658187" y="5434515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Шаг7.5</a:t>
            </a:r>
            <a:endParaRPr lang="en-US" altLang="ru-RU" sz="500" b="1" dirty="0"/>
          </a:p>
        </p:txBody>
      </p:sp>
      <p:sp>
        <p:nvSpPr>
          <p:cNvPr id="400" name="Rectangle 16597"/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3030419" y="5438581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293</a:t>
            </a:r>
            <a:endParaRPr lang="en-US" altLang="ru-RU" sz="500" b="1" dirty="0"/>
          </a:p>
        </p:txBody>
      </p:sp>
      <p:sp>
        <p:nvSpPr>
          <p:cNvPr id="405" name="AutoShape 98"/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1747781" y="5720040"/>
            <a:ext cx="1079500" cy="431800"/>
          </a:xfrm>
          <a:prstGeom prst="diamond">
            <a:avLst/>
          </a:prstGeom>
          <a:solidFill>
            <a:schemeClr val="accent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lIns="75405" tIns="47883" rIns="94258" bIns="47883" anchor="ctr"/>
          <a:lstStyle>
            <a:lvl1pPr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/>
            <a:r>
              <a:rPr lang="ru-RU" altLang="ru-RU" sz="500" b="1" dirty="0" smtClean="0">
                <a:latin typeface="Arial" panose="020B0604020202020204" pitchFamily="34" charset="0"/>
              </a:rPr>
              <a:t>Расходный материал?</a:t>
            </a:r>
            <a:endParaRPr lang="en-US" altLang="ru-RU" sz="500" b="1" dirty="0" smtClean="0">
              <a:latin typeface="Arial" panose="020B0604020202020204" pitchFamily="34" charset="0"/>
            </a:endParaRPr>
          </a:p>
          <a:p>
            <a:pPr algn="ctr" eaLnBrk="1" hangingPunct="1"/>
            <a:r>
              <a:rPr lang="ru-RU" altLang="ru-RU" sz="500" b="1" dirty="0" smtClean="0">
                <a:latin typeface="Arial" panose="020B0604020202020204" pitchFamily="34" charset="0"/>
              </a:rPr>
              <a:t>Класс материала </a:t>
            </a:r>
            <a:r>
              <a:rPr lang="en-US" altLang="ru-RU" sz="500" b="1" dirty="0" smtClean="0">
                <a:latin typeface="Arial" panose="020B0604020202020204" pitchFamily="34" charset="0"/>
              </a:rPr>
              <a:t>C/CR</a:t>
            </a:r>
            <a:endParaRPr lang="en-US" altLang="ru-RU" sz="500" b="1" dirty="0">
              <a:latin typeface="Arial" panose="020B0604020202020204" pitchFamily="34" charset="0"/>
            </a:endParaRPr>
          </a:p>
        </p:txBody>
      </p:sp>
      <p:sp>
        <p:nvSpPr>
          <p:cNvPr id="407" name="Rectangle 16596"/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3045690" y="5757784"/>
            <a:ext cx="885825" cy="360363"/>
          </a:xfrm>
          <a:prstGeom prst="rect">
            <a:avLst/>
          </a:prstGeom>
          <a:solidFill>
            <a:srgbClr val="FEDF5C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>
            <a:lvl1pPr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endParaRPr lang="en-US" altLang="ru-RU" sz="500" b="1" dirty="0" smtClean="0">
              <a:latin typeface="Arial" panose="020B0604020202020204" pitchFamily="34" charset="0"/>
            </a:endParaRPr>
          </a:p>
          <a:p>
            <a:pPr algn="ctr" eaLnBrk="1" hangingPunct="1">
              <a:lnSpc>
                <a:spcPct val="80000"/>
              </a:lnSpc>
            </a:pPr>
            <a:r>
              <a:rPr lang="en-US" altLang="ru-RU" sz="500" b="1" dirty="0" smtClean="0">
                <a:latin typeface="Arial" panose="020B0604020202020204" pitchFamily="34" charset="0"/>
              </a:rPr>
              <a:t>Parts Transfer </a:t>
            </a:r>
            <a:r>
              <a:rPr lang="ru-RU" altLang="ru-RU" sz="500" b="1" dirty="0" smtClean="0">
                <a:latin typeface="Arial" panose="020B0604020202020204" pitchFamily="34" charset="0"/>
              </a:rPr>
              <a:t>на</a:t>
            </a:r>
            <a:r>
              <a:rPr lang="en-US" altLang="ru-RU" sz="500" b="1" dirty="0" smtClean="0">
                <a:latin typeface="Arial" panose="020B0604020202020204" pitchFamily="34" charset="0"/>
              </a:rPr>
              <a:t> </a:t>
            </a:r>
            <a:r>
              <a:rPr lang="en-US" altLang="ru-RU" sz="500" b="1" dirty="0" err="1" smtClean="0">
                <a:latin typeface="Arial" panose="020B0604020202020204" pitchFamily="34" charset="0"/>
              </a:rPr>
              <a:t>ListOfTl</a:t>
            </a:r>
            <a:r>
              <a:rPr lang="en-US" altLang="ru-RU" sz="500" b="1" dirty="0" smtClean="0">
                <a:latin typeface="Arial" panose="020B0604020202020204" pitchFamily="34" charset="0"/>
              </a:rPr>
              <a:t>.</a:t>
            </a:r>
            <a:endParaRPr lang="en-GB" altLang="ru-RU" sz="500" b="1" dirty="0">
              <a:latin typeface="Arial" panose="020B0604020202020204" pitchFamily="34" charset="0"/>
            </a:endParaRPr>
          </a:p>
        </p:txBody>
      </p:sp>
      <p:sp>
        <p:nvSpPr>
          <p:cNvPr id="408" name="Rectangle 16597"/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3669902" y="6029299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Шаг</a:t>
            </a:r>
            <a:r>
              <a:rPr lang="ru-RU" altLang="ru-RU" sz="500" b="1" dirty="0">
                <a:latin typeface="+mn-lt"/>
              </a:rPr>
              <a:t> </a:t>
            </a:r>
            <a:r>
              <a:rPr lang="ru-RU" altLang="ru-RU" sz="500" b="1" dirty="0" smtClean="0">
                <a:latin typeface="+mn-lt"/>
              </a:rPr>
              <a:t>9.2</a:t>
            </a:r>
            <a:endParaRPr lang="en-US" altLang="ru-RU" sz="500" b="1" dirty="0"/>
          </a:p>
        </p:txBody>
      </p:sp>
      <p:sp>
        <p:nvSpPr>
          <p:cNvPr id="409" name="Rectangle 16597"/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3048230" y="6027269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293</a:t>
            </a:r>
            <a:endParaRPr lang="en-US" altLang="ru-RU" sz="500" b="1" dirty="0"/>
          </a:p>
        </p:txBody>
      </p:sp>
      <p:sp>
        <p:nvSpPr>
          <p:cNvPr id="410" name="Text Box 3962"/>
          <p:cNvSpPr txBox="1">
            <a:spLocks noChangeArrowheads="1"/>
          </p:cNvSpPr>
          <p:nvPr/>
        </p:nvSpPr>
        <p:spPr bwMode="auto">
          <a:xfrm>
            <a:off x="2690103" y="5712735"/>
            <a:ext cx="399018" cy="173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5765" tIns="47883" rIns="95765" bIns="47883">
            <a:spAutoFit/>
          </a:bodyPr>
          <a:lstStyle>
            <a:lvl1pPr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500" dirty="0" smtClean="0">
                <a:latin typeface="+mn-lt"/>
              </a:rPr>
              <a:t>Нет</a:t>
            </a:r>
            <a:endParaRPr lang="ru-RU" altLang="ru-RU" sz="500" dirty="0">
              <a:latin typeface="+mn-lt"/>
            </a:endParaRPr>
          </a:p>
        </p:txBody>
      </p:sp>
      <p:sp>
        <p:nvSpPr>
          <p:cNvPr id="411" name="Text Box 3962"/>
          <p:cNvSpPr txBox="1">
            <a:spLocks noChangeArrowheads="1"/>
          </p:cNvSpPr>
          <p:nvPr/>
        </p:nvSpPr>
        <p:spPr bwMode="auto">
          <a:xfrm>
            <a:off x="1453772" y="5720275"/>
            <a:ext cx="399018" cy="173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5765" tIns="47883" rIns="95765" bIns="47883">
            <a:spAutoFit/>
          </a:bodyPr>
          <a:lstStyle>
            <a:lvl1pPr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500" dirty="0" smtClean="0">
                <a:latin typeface="+mn-lt"/>
              </a:rPr>
              <a:t>Да</a:t>
            </a:r>
            <a:endParaRPr lang="ru-RU" altLang="ru-RU" sz="500" dirty="0">
              <a:latin typeface="+mn-lt"/>
            </a:endParaRPr>
          </a:p>
        </p:txBody>
      </p:sp>
      <p:sp>
        <p:nvSpPr>
          <p:cNvPr id="416" name="Rectangle 16596"/>
          <p:cNvSpPr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635513" y="5755115"/>
            <a:ext cx="885825" cy="360363"/>
          </a:xfrm>
          <a:prstGeom prst="rect">
            <a:avLst/>
          </a:prstGeom>
          <a:solidFill>
            <a:srgbClr val="FEDF5C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>
            <a:lvl1pPr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endParaRPr lang="en-US" altLang="ru-RU" sz="500" b="1" dirty="0" smtClean="0">
              <a:latin typeface="Arial" panose="020B0604020202020204" pitchFamily="34" charset="0"/>
            </a:endParaRPr>
          </a:p>
          <a:p>
            <a:pPr algn="ctr" eaLnBrk="1" hangingPunct="1">
              <a:lnSpc>
                <a:spcPct val="80000"/>
              </a:lnSpc>
            </a:pPr>
            <a:r>
              <a:rPr lang="en-US" altLang="ru-RU" sz="500" b="1" dirty="0" err="1" smtClean="0">
                <a:latin typeface="Arial" panose="020B0604020202020204" pitchFamily="34" charset="0"/>
              </a:rPr>
              <a:t>Pickslip</a:t>
            </a:r>
            <a:r>
              <a:rPr lang="en-US" altLang="ru-RU" sz="500" b="1" dirty="0" smtClean="0">
                <a:latin typeface="Arial" panose="020B0604020202020204" pitchFamily="34" charset="0"/>
              </a:rPr>
              <a:t> </a:t>
            </a:r>
            <a:r>
              <a:rPr lang="ru-RU" altLang="ru-RU" sz="500" b="1" dirty="0" smtClean="0">
                <a:latin typeface="Arial" panose="020B0604020202020204" pitchFamily="34" charset="0"/>
              </a:rPr>
              <a:t>на списание со склада на МВЗ</a:t>
            </a:r>
            <a:endParaRPr lang="en-GB" altLang="ru-RU" sz="500" b="1" dirty="0">
              <a:latin typeface="Arial" panose="020B0604020202020204" pitchFamily="34" charset="0"/>
            </a:endParaRPr>
          </a:p>
        </p:txBody>
      </p:sp>
      <p:sp>
        <p:nvSpPr>
          <p:cNvPr id="417" name="Rectangle 16597"/>
          <p:cNvSpPr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1259725" y="6032726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Шаг 9.1.2</a:t>
            </a:r>
            <a:endParaRPr lang="en-US" altLang="ru-RU" sz="500" b="1" dirty="0"/>
          </a:p>
        </p:txBody>
      </p:sp>
      <p:sp>
        <p:nvSpPr>
          <p:cNvPr id="418" name="Rectangle 16597"/>
          <p:cNvSpPr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638053" y="6036792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230</a:t>
            </a:r>
            <a:endParaRPr lang="en-US" altLang="ru-RU" sz="500" b="1" dirty="0"/>
          </a:p>
        </p:txBody>
      </p:sp>
      <p:cxnSp>
        <p:nvCxnSpPr>
          <p:cNvPr id="419" name="AutoShape 3706"/>
          <p:cNvCxnSpPr>
            <a:cxnSpLocks noChangeShapeType="1"/>
            <a:stCxn id="405" idx="1"/>
            <a:endCxn id="416" idx="3"/>
          </p:cNvCxnSpPr>
          <p:nvPr/>
        </p:nvCxnSpPr>
        <p:spPr bwMode="auto">
          <a:xfrm flipH="1" flipV="1">
            <a:off x="1521338" y="5935297"/>
            <a:ext cx="226443" cy="643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4" name="AutoShape 3706"/>
          <p:cNvCxnSpPr>
            <a:cxnSpLocks noChangeShapeType="1"/>
            <a:stCxn id="405" idx="3"/>
            <a:endCxn id="407" idx="1"/>
          </p:cNvCxnSpPr>
          <p:nvPr/>
        </p:nvCxnSpPr>
        <p:spPr bwMode="auto">
          <a:xfrm>
            <a:off x="2827281" y="5935940"/>
            <a:ext cx="218409" cy="2026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8" name="AutoShape 3706"/>
          <p:cNvCxnSpPr>
            <a:cxnSpLocks noChangeShapeType="1"/>
            <a:stCxn id="346" idx="2"/>
            <a:endCxn id="405" idx="0"/>
          </p:cNvCxnSpPr>
          <p:nvPr/>
        </p:nvCxnSpPr>
        <p:spPr bwMode="auto">
          <a:xfrm flipH="1">
            <a:off x="2287531" y="5523786"/>
            <a:ext cx="1835" cy="196254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4" name="AutoShape 19"/>
          <p:cNvSpPr>
            <a:spLocks noChangeArrowheads="1"/>
          </p:cNvSpPr>
          <p:nvPr>
            <p:custDataLst>
              <p:tags r:id="rId46"/>
            </p:custDataLst>
          </p:nvPr>
        </p:nvSpPr>
        <p:spPr bwMode="auto">
          <a:xfrm flipH="1" flipV="1">
            <a:off x="4204500" y="5343604"/>
            <a:ext cx="792162" cy="259690"/>
          </a:xfrm>
          <a:prstGeom prst="wedgeRectCallout">
            <a:avLst>
              <a:gd name="adj1" fmla="val 84153"/>
              <a:gd name="adj2" fmla="val 64340"/>
            </a:avLst>
          </a:prstGeom>
          <a:solidFill>
            <a:srgbClr val="FFFFFF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rot="10800000" lIns="18000" tIns="18000" rIns="18000" bIns="18000" anchor="ctr" anchorCtr="1"/>
          <a:lstStyle>
            <a:lvl1pPr marL="46038" indent="-46038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/>
            <a:r>
              <a:rPr lang="ru-RU" altLang="ru-RU" sz="500" dirty="0" smtClean="0">
                <a:latin typeface="Arial" panose="020B0604020202020204" pitchFamily="34" charset="0"/>
              </a:rPr>
              <a:t>Создание заявки, удаление из </a:t>
            </a:r>
            <a:r>
              <a:rPr lang="en-US" altLang="ru-RU" sz="500" dirty="0" smtClean="0">
                <a:latin typeface="Arial" panose="020B0604020202020204" pitchFamily="34" charset="0"/>
              </a:rPr>
              <a:t>AMOS, </a:t>
            </a:r>
            <a:r>
              <a:rPr lang="ru-RU" altLang="ru-RU" sz="500" dirty="0" smtClean="0">
                <a:latin typeface="Arial" panose="020B0604020202020204" pitchFamily="34" charset="0"/>
              </a:rPr>
              <a:t>конец процесса</a:t>
            </a:r>
            <a:endParaRPr lang="en-US" altLang="ru-RU" sz="500" dirty="0">
              <a:latin typeface="Arial" panose="020B0604020202020204" pitchFamily="34" charset="0"/>
            </a:endParaRPr>
          </a:p>
        </p:txBody>
      </p:sp>
      <p:sp>
        <p:nvSpPr>
          <p:cNvPr id="435" name="Oval 44"/>
          <p:cNvSpPr>
            <a:spLocks noChangeArrowheads="1"/>
          </p:cNvSpPr>
          <p:nvPr/>
        </p:nvSpPr>
        <p:spPr bwMode="auto">
          <a:xfrm>
            <a:off x="934756" y="6266601"/>
            <a:ext cx="287338" cy="287338"/>
          </a:xfrm>
          <a:prstGeom prst="ellipse">
            <a:avLst/>
          </a:prstGeom>
          <a:solidFill>
            <a:srgbClr val="77ADAA"/>
          </a:solidFill>
          <a:ln w="3175" algn="ctr">
            <a:solidFill>
              <a:srgbClr val="000000"/>
            </a:solidFill>
            <a:round/>
            <a:headEnd/>
            <a:tailEnd type="none" w="lg" len="lg"/>
          </a:ln>
        </p:spPr>
        <p:txBody>
          <a:bodyPr lIns="0" tIns="0" rIns="0" bIns="0" anchor="ctr"/>
          <a:lstStyle>
            <a:lvl1pPr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de-DE" altLang="ru-RU" sz="400"/>
              <a:t>Process End</a:t>
            </a:r>
          </a:p>
        </p:txBody>
      </p:sp>
      <p:cxnSp>
        <p:nvCxnSpPr>
          <p:cNvPr id="436" name="AutoShape 3706"/>
          <p:cNvCxnSpPr>
            <a:cxnSpLocks noChangeShapeType="1"/>
            <a:stCxn id="416" idx="2"/>
            <a:endCxn id="435" idx="0"/>
          </p:cNvCxnSpPr>
          <p:nvPr/>
        </p:nvCxnSpPr>
        <p:spPr bwMode="auto">
          <a:xfrm flipH="1">
            <a:off x="1078425" y="6115478"/>
            <a:ext cx="1" cy="151123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9" name="AutoShape 3706"/>
          <p:cNvCxnSpPr>
            <a:cxnSpLocks noChangeShapeType="1"/>
            <a:stCxn id="301" idx="2"/>
            <a:endCxn id="435" idx="6"/>
          </p:cNvCxnSpPr>
          <p:nvPr/>
        </p:nvCxnSpPr>
        <p:spPr bwMode="auto">
          <a:xfrm rot="5400000">
            <a:off x="3038074" y="3700935"/>
            <a:ext cx="893355" cy="4525314"/>
          </a:xfrm>
          <a:prstGeom prst="bentConnector2">
            <a:avLst/>
          </a:prstGeom>
          <a:noFill/>
          <a:ln w="3175">
            <a:solidFill>
              <a:schemeClr val="tx1"/>
            </a:solidFill>
            <a:miter lim="800000"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2" name="Flussdiagramm: Verbindungsstelle 18"/>
          <p:cNvSpPr>
            <a:spLocks noChangeArrowheads="1"/>
          </p:cNvSpPr>
          <p:nvPr/>
        </p:nvSpPr>
        <p:spPr bwMode="auto">
          <a:xfrm>
            <a:off x="4193511" y="5829830"/>
            <a:ext cx="287338" cy="215900"/>
          </a:xfrm>
          <a:prstGeom prst="flowChartConnector">
            <a:avLst/>
          </a:prstGeom>
          <a:solidFill>
            <a:srgbClr val="00B050"/>
          </a:solidFill>
          <a:ln w="3175" algn="ctr">
            <a:solidFill>
              <a:srgbClr val="000000"/>
            </a:solidFill>
            <a:round/>
            <a:headEnd/>
            <a:tailEnd/>
          </a:ln>
        </p:spPr>
        <p:txBody>
          <a:bodyPr lIns="36000" tIns="36000" rIns="36000" bIns="36000" anchor="ctr"/>
          <a:lstStyle>
            <a:lvl1pPr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ru-RU" sz="700" b="1" dirty="0" smtClean="0"/>
              <a:t>A_1</a:t>
            </a:r>
            <a:endParaRPr lang="en-US" altLang="ru-RU" sz="500" b="1" dirty="0"/>
          </a:p>
        </p:txBody>
      </p:sp>
      <p:cxnSp>
        <p:nvCxnSpPr>
          <p:cNvPr id="443" name="AutoShape 3706"/>
          <p:cNvCxnSpPr>
            <a:cxnSpLocks noChangeShapeType="1"/>
            <a:stCxn id="407" idx="3"/>
            <a:endCxn id="442" idx="2"/>
          </p:cNvCxnSpPr>
          <p:nvPr/>
        </p:nvCxnSpPr>
        <p:spPr bwMode="auto">
          <a:xfrm flipV="1">
            <a:off x="3931515" y="5937780"/>
            <a:ext cx="261996" cy="186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7" name="AutoShape 19"/>
          <p:cNvSpPr>
            <a:spLocks noChangeArrowheads="1"/>
          </p:cNvSpPr>
          <p:nvPr>
            <p:custDataLst>
              <p:tags r:id="rId47"/>
            </p:custDataLst>
          </p:nvPr>
        </p:nvSpPr>
        <p:spPr bwMode="auto">
          <a:xfrm flipH="1" flipV="1">
            <a:off x="4805981" y="5815087"/>
            <a:ext cx="843381" cy="330658"/>
          </a:xfrm>
          <a:prstGeom prst="wedgeRectCallout">
            <a:avLst>
              <a:gd name="adj1" fmla="val 91849"/>
              <a:gd name="adj2" fmla="val -3148"/>
            </a:avLst>
          </a:prstGeom>
          <a:solidFill>
            <a:srgbClr val="FFFFFF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rot="10800000" lIns="18000" tIns="18000" rIns="18000" bIns="18000" anchor="ctr" anchorCtr="1"/>
          <a:lstStyle>
            <a:lvl1pPr marL="46038" indent="-46038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/>
            <a:r>
              <a:rPr lang="ru-RU" altLang="ru-RU" sz="500" dirty="0" smtClean="0">
                <a:latin typeface="Arial" panose="020B0604020202020204" pitchFamily="34" charset="0"/>
              </a:rPr>
              <a:t>Процесс учета инструмента на </a:t>
            </a:r>
            <a:r>
              <a:rPr lang="en-US" altLang="ru-RU" sz="500" dirty="0" err="1" smtClean="0">
                <a:latin typeface="Arial" panose="020B0604020202020204" pitchFamily="34" charset="0"/>
              </a:rPr>
              <a:t>ListOfTl</a:t>
            </a:r>
            <a:r>
              <a:rPr lang="ru-RU" altLang="ru-RU" sz="500" dirty="0" smtClean="0">
                <a:latin typeface="Arial" panose="020B0604020202020204" pitchFamily="34" charset="0"/>
              </a:rPr>
              <a:t>, включая калибровку</a:t>
            </a:r>
            <a:endParaRPr lang="en-US" altLang="ru-RU" sz="500" dirty="0">
              <a:latin typeface="Arial" panose="020B0604020202020204" pitchFamily="34" charset="0"/>
            </a:endParaRPr>
          </a:p>
        </p:txBody>
      </p:sp>
      <p:sp>
        <p:nvSpPr>
          <p:cNvPr id="143" name="AutoShape 19"/>
          <p:cNvSpPr>
            <a:spLocks noChangeArrowheads="1"/>
          </p:cNvSpPr>
          <p:nvPr>
            <p:custDataLst>
              <p:tags r:id="rId48"/>
            </p:custDataLst>
          </p:nvPr>
        </p:nvSpPr>
        <p:spPr bwMode="auto">
          <a:xfrm flipH="1" flipV="1">
            <a:off x="745171" y="5295356"/>
            <a:ext cx="746616" cy="185742"/>
          </a:xfrm>
          <a:prstGeom prst="wedgeRectCallout">
            <a:avLst>
              <a:gd name="adj1" fmla="val -226"/>
              <a:gd name="adj2" fmla="val -199689"/>
            </a:avLst>
          </a:prstGeom>
          <a:solidFill>
            <a:srgbClr val="FFFFFF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rot="10800000" lIns="18000" tIns="18000" rIns="18000" bIns="18000" anchor="ctr" anchorCtr="1"/>
          <a:lstStyle>
            <a:lvl1pPr marL="46038" indent="-46038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/>
            <a:r>
              <a:rPr lang="ru-RU" altLang="ru-RU" sz="500" dirty="0" smtClean="0">
                <a:latin typeface="Arial" panose="020B0604020202020204" pitchFamily="34" charset="0"/>
              </a:rPr>
              <a:t>По потребности </a:t>
            </a:r>
            <a:endParaRPr lang="en-US" altLang="ru-RU" sz="500" dirty="0">
              <a:latin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6591300" y="1193145"/>
            <a:ext cx="139700" cy="107600"/>
          </a:xfrm>
          <a:prstGeom prst="rect">
            <a:avLst/>
          </a:prstGeom>
          <a:pattFill prst="ltDnDiag">
            <a:fgClr>
              <a:srgbClr val="FEDF5C"/>
            </a:fgClr>
            <a:bgClr>
              <a:srgbClr val="FFFFFF"/>
            </a:bgClr>
          </a:patt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/>
          <a:p>
            <a:pPr algn="ctr" defTabSz="682625">
              <a:lnSpc>
                <a:spcPct val="80000"/>
              </a:lnSpc>
            </a:pPr>
            <a:endParaRPr lang="ru-RU" sz="500" b="1">
              <a:solidFill>
                <a:schemeClr val="tx1"/>
              </a:solidFill>
              <a:latin typeface="Arial" panose="020B0604020202020204" pitchFamily="34" charset="0"/>
              <a:ea typeface="Arial Unicode MS" pitchFamily="34" charset="-128"/>
            </a:endParaRPr>
          </a:p>
        </p:txBody>
      </p:sp>
      <p:sp>
        <p:nvSpPr>
          <p:cNvPr id="96" name="Прямоугольник 95"/>
          <p:cNvSpPr/>
          <p:nvPr/>
        </p:nvSpPr>
        <p:spPr>
          <a:xfrm>
            <a:off x="6591300" y="1338735"/>
            <a:ext cx="139700" cy="107600"/>
          </a:xfrm>
          <a:prstGeom prst="rect">
            <a:avLst/>
          </a:prstGeom>
          <a:solidFill>
            <a:srgbClr val="FEDF5C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/>
          <a:p>
            <a:pPr algn="ctr" defTabSz="682625">
              <a:lnSpc>
                <a:spcPct val="80000"/>
              </a:lnSpc>
            </a:pPr>
            <a:endParaRPr lang="ru-RU" sz="500" b="1">
              <a:latin typeface="Arial Unicode MS" pitchFamily="34" charset="-128"/>
              <a:ea typeface="Arial Unicode MS" pitchFamily="34" charset="-128"/>
            </a:endParaRPr>
          </a:p>
        </p:txBody>
      </p:sp>
      <p:sp>
        <p:nvSpPr>
          <p:cNvPr id="97" name="Прямоугольник 96"/>
          <p:cNvSpPr/>
          <p:nvPr/>
        </p:nvSpPr>
        <p:spPr>
          <a:xfrm>
            <a:off x="6591300" y="1502139"/>
            <a:ext cx="139700" cy="107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/>
          <a:p>
            <a:pPr algn="ctr" defTabSz="682625">
              <a:lnSpc>
                <a:spcPct val="80000"/>
              </a:lnSpc>
            </a:pPr>
            <a:endParaRPr lang="ru-RU" sz="500" b="1">
              <a:latin typeface="Arial" panose="020B0604020202020204" pitchFamily="34" charset="0"/>
              <a:ea typeface="Arial Unicode MS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31000" y="1155155"/>
            <a:ext cx="99738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ru-RU" sz="500" dirty="0" smtClean="0"/>
              <a:t>Внесистемный процесс</a:t>
            </a:r>
          </a:p>
          <a:p>
            <a:pPr marL="171450" indent="-171450">
              <a:buFontTx/>
              <a:buChar char="-"/>
            </a:pPr>
            <a:endParaRPr lang="ru-RU" sz="500" dirty="0"/>
          </a:p>
          <a:p>
            <a:pPr marL="171450" indent="-171450">
              <a:buFontTx/>
              <a:buChar char="-"/>
            </a:pPr>
            <a:r>
              <a:rPr lang="ru-RU" sz="500" dirty="0" smtClean="0"/>
              <a:t>Система </a:t>
            </a:r>
            <a:r>
              <a:rPr lang="en-US" sz="500" dirty="0" smtClean="0"/>
              <a:t>AMOS</a:t>
            </a:r>
          </a:p>
          <a:p>
            <a:pPr marL="171450" indent="-171450">
              <a:buFontTx/>
              <a:buChar char="-"/>
            </a:pPr>
            <a:endParaRPr lang="en-US" sz="500" dirty="0" smtClean="0"/>
          </a:p>
          <a:p>
            <a:pPr marL="171450" indent="-171450">
              <a:buFontTx/>
              <a:buChar char="-"/>
            </a:pPr>
            <a:r>
              <a:rPr lang="ru-RU" sz="500" dirty="0" smtClean="0"/>
              <a:t>Система </a:t>
            </a:r>
            <a:r>
              <a:rPr lang="en-US" sz="500" dirty="0" smtClean="0"/>
              <a:t>SAP ERP</a:t>
            </a:r>
            <a:endParaRPr lang="ru-RU" sz="500" dirty="0"/>
          </a:p>
        </p:txBody>
      </p:sp>
      <p:sp>
        <p:nvSpPr>
          <p:cNvPr id="4" name="TextBox 3"/>
          <p:cNvSpPr txBox="1"/>
          <p:nvPr/>
        </p:nvSpPr>
        <p:spPr>
          <a:xfrm>
            <a:off x="6661150" y="1006475"/>
            <a:ext cx="47801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" dirty="0" smtClean="0"/>
              <a:t>Легенда:</a:t>
            </a:r>
            <a:endParaRPr lang="ru-RU" sz="500" dirty="0"/>
          </a:p>
        </p:txBody>
      </p:sp>
    </p:spTree>
    <p:extLst>
      <p:ext uri="{BB962C8B-B14F-4D97-AF65-F5344CB8AC3E}">
        <p14:creationId xmlns:p14="http://schemas.microsoft.com/office/powerpoint/2010/main" val="1561683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6596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60742" y="286252"/>
            <a:ext cx="5283109" cy="428625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6554" tIns="18851" rIns="18851" bIns="18851" anchor="ctr"/>
          <a:lstStyle>
            <a:lvl1pPr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ru-RU" altLang="ru-RU" b="1" dirty="0" smtClean="0">
                <a:latin typeface="Arial" panose="020B0604020202020204" pitchFamily="34" charset="0"/>
              </a:rPr>
              <a:t>Отслеживание сроков пригодности инструмента</a:t>
            </a:r>
            <a:r>
              <a:rPr lang="ru-RU" altLang="ru-RU" b="1" dirty="0">
                <a:latin typeface="Arial" panose="020B0604020202020204" pitchFamily="34" charset="0"/>
              </a:rPr>
              <a:t> </a:t>
            </a:r>
            <a:r>
              <a:rPr lang="ru-RU" altLang="ru-RU" b="1" dirty="0" smtClean="0">
                <a:latin typeface="Arial" panose="020B0604020202020204" pitchFamily="34" charset="0"/>
              </a:rPr>
              <a:t>и отправка на калибровку </a:t>
            </a:r>
            <a:endParaRPr lang="en-GB" altLang="ru-RU" b="1" dirty="0">
              <a:latin typeface="Arial" panose="020B0604020202020204" pitchFamily="34" charset="0"/>
            </a:endParaRPr>
          </a:p>
        </p:txBody>
      </p:sp>
      <p:sp>
        <p:nvSpPr>
          <p:cNvPr id="5" name="Flussdiagramm: Verbindungsstelle 18"/>
          <p:cNvSpPr>
            <a:spLocks noChangeArrowheads="1"/>
          </p:cNvSpPr>
          <p:nvPr/>
        </p:nvSpPr>
        <p:spPr bwMode="auto">
          <a:xfrm>
            <a:off x="5330328" y="392614"/>
            <a:ext cx="287338" cy="215900"/>
          </a:xfrm>
          <a:prstGeom prst="flowChartConnector">
            <a:avLst/>
          </a:prstGeom>
          <a:solidFill>
            <a:srgbClr val="00B050"/>
          </a:solidFill>
          <a:ln w="3175" algn="ctr">
            <a:solidFill>
              <a:srgbClr val="000000"/>
            </a:solidFill>
            <a:round/>
            <a:headEnd/>
            <a:tailEnd/>
          </a:ln>
        </p:spPr>
        <p:txBody>
          <a:bodyPr lIns="36000" tIns="36000" rIns="36000" bIns="36000" anchor="ctr"/>
          <a:lstStyle>
            <a:lvl1pPr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ru-RU" sz="700" b="1" dirty="0" smtClean="0"/>
              <a:t>A_</a:t>
            </a:r>
            <a:r>
              <a:rPr lang="ru-RU" altLang="ru-RU" sz="700" b="1" dirty="0" smtClean="0"/>
              <a:t>1</a:t>
            </a:r>
            <a:endParaRPr lang="en-US" altLang="ru-RU" sz="500" b="1" dirty="0"/>
          </a:p>
        </p:txBody>
      </p:sp>
      <p:sp>
        <p:nvSpPr>
          <p:cNvPr id="104" name="Rectangle 1659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09955" y="4733203"/>
            <a:ext cx="885825" cy="360363"/>
          </a:xfrm>
          <a:prstGeom prst="rect">
            <a:avLst/>
          </a:prstGeom>
          <a:solidFill>
            <a:srgbClr val="FEDF5C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>
            <a:lvl1pPr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endParaRPr lang="ru-RU" altLang="ru-RU" sz="500" b="1" dirty="0"/>
          </a:p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Arial" panose="020B0604020202020204" pitchFamily="34" charset="0"/>
              </a:rPr>
              <a:t>Отпуск со склада </a:t>
            </a:r>
            <a:r>
              <a:rPr lang="en-US" altLang="ru-RU" sz="500" b="1" dirty="0" smtClean="0">
                <a:latin typeface="Arial" panose="020B0604020202020204" pitchFamily="34" charset="0"/>
              </a:rPr>
              <a:t>TOOLS</a:t>
            </a:r>
            <a:r>
              <a:rPr lang="ru-RU" altLang="ru-RU" sz="500" b="1" dirty="0" smtClean="0">
                <a:latin typeface="Arial" panose="020B0604020202020204" pitchFamily="34" charset="0"/>
              </a:rPr>
              <a:t> </a:t>
            </a:r>
            <a:endParaRPr lang="en-GB" altLang="ru-RU" sz="500" b="1" dirty="0">
              <a:latin typeface="Arial" panose="020B0604020202020204" pitchFamily="34" charset="0"/>
            </a:endParaRPr>
          </a:p>
        </p:txBody>
      </p:sp>
      <p:sp>
        <p:nvSpPr>
          <p:cNvPr id="105" name="Rectangle 1659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99241" y="5011602"/>
            <a:ext cx="296367" cy="81964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Шаг 10.</a:t>
            </a:r>
            <a:r>
              <a:rPr lang="en-US" altLang="ru-RU" sz="500" b="1" dirty="0" smtClean="0">
                <a:latin typeface="+mn-lt"/>
              </a:rPr>
              <a:t>1</a:t>
            </a:r>
            <a:r>
              <a:rPr lang="ru-RU" altLang="ru-RU" sz="500" b="1" dirty="0" smtClean="0">
                <a:latin typeface="+mn-lt"/>
              </a:rPr>
              <a:t>.3</a:t>
            </a:r>
            <a:endParaRPr lang="en-US" altLang="ru-RU" sz="500" b="1" dirty="0"/>
          </a:p>
        </p:txBody>
      </p:sp>
      <p:sp>
        <p:nvSpPr>
          <p:cNvPr id="106" name="Rectangle 1659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9955" y="5011602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2015/230</a:t>
            </a:r>
            <a:endParaRPr lang="en-US" altLang="ru-RU" sz="500" b="1" dirty="0"/>
          </a:p>
        </p:txBody>
      </p:sp>
      <p:sp>
        <p:nvSpPr>
          <p:cNvPr id="107" name="Rectangle 1659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909955" y="5267471"/>
            <a:ext cx="885825" cy="360363"/>
          </a:xfrm>
          <a:prstGeom prst="rect">
            <a:avLst/>
          </a:prstGeom>
          <a:solidFill>
            <a:srgbClr val="FEDF5C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>
            <a:lvl1pPr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endParaRPr lang="ru-RU" altLang="ru-RU" sz="500" b="1" dirty="0"/>
          </a:p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Arial" panose="020B0604020202020204" pitchFamily="34" charset="0"/>
              </a:rPr>
              <a:t> Получение на склад отправки ДУЗД</a:t>
            </a:r>
            <a:endParaRPr lang="en-GB" altLang="ru-RU" sz="500" b="1" dirty="0">
              <a:latin typeface="Arial" panose="020B0604020202020204" pitchFamily="34" charset="0"/>
            </a:endParaRPr>
          </a:p>
        </p:txBody>
      </p:sp>
      <p:sp>
        <p:nvSpPr>
          <p:cNvPr id="108" name="Rectangle 16597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909955" y="5545870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2</a:t>
            </a:r>
            <a:r>
              <a:rPr lang="en-US" altLang="ru-RU" sz="500" b="1" dirty="0" smtClean="0">
                <a:latin typeface="+mn-lt"/>
              </a:rPr>
              <a:t>121</a:t>
            </a:r>
            <a:endParaRPr lang="en-US" altLang="ru-RU" sz="500" b="1" dirty="0"/>
          </a:p>
        </p:txBody>
      </p:sp>
      <p:sp>
        <p:nvSpPr>
          <p:cNvPr id="109" name="Rectangle 16597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499327" y="5545870"/>
            <a:ext cx="296367" cy="81964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Шаг 10.1.4</a:t>
            </a:r>
            <a:endParaRPr lang="en-US" altLang="ru-RU" sz="500" b="1" dirty="0"/>
          </a:p>
        </p:txBody>
      </p:sp>
      <p:cxnSp>
        <p:nvCxnSpPr>
          <p:cNvPr id="110" name="Прямая со стрелкой 109"/>
          <p:cNvCxnSpPr>
            <a:stCxn id="104" idx="2"/>
            <a:endCxn id="107" idx="0"/>
          </p:cNvCxnSpPr>
          <p:nvPr/>
        </p:nvCxnSpPr>
        <p:spPr>
          <a:xfrm>
            <a:off x="2352868" y="5093566"/>
            <a:ext cx="0" cy="1739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Прямая со стрелкой 110"/>
          <p:cNvCxnSpPr>
            <a:endCxn id="104" idx="0"/>
          </p:cNvCxnSpPr>
          <p:nvPr/>
        </p:nvCxnSpPr>
        <p:spPr>
          <a:xfrm flipH="1">
            <a:off x="2352868" y="4550596"/>
            <a:ext cx="1643" cy="1826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AutoShape 19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 flipH="1" flipV="1">
            <a:off x="301749" y="4659313"/>
            <a:ext cx="792162" cy="347950"/>
          </a:xfrm>
          <a:prstGeom prst="wedgeRectCallout">
            <a:avLst>
              <a:gd name="adj1" fmla="val -150011"/>
              <a:gd name="adj2" fmla="val -20559"/>
            </a:avLst>
          </a:prstGeom>
          <a:solidFill>
            <a:srgbClr val="FFFFFF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rot="10800000" lIns="18000" tIns="18000" rIns="18000" bIns="18000" anchor="ctr" anchorCtr="1"/>
          <a:lstStyle>
            <a:lvl1pPr marL="46038" indent="-46038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/>
            <a:r>
              <a:rPr lang="ru-RU" altLang="ru-RU" sz="500" dirty="0" smtClean="0">
                <a:latin typeface="Arial" panose="020B0604020202020204" pitchFamily="34" charset="0"/>
              </a:rPr>
              <a:t>В системе оформляется заказ на калибровку</a:t>
            </a:r>
            <a:endParaRPr lang="en-US" altLang="ru-RU" sz="500" dirty="0">
              <a:latin typeface="Arial" panose="020B0604020202020204" pitchFamily="34" charset="0"/>
            </a:endParaRPr>
          </a:p>
        </p:txBody>
      </p:sp>
      <p:cxnSp>
        <p:nvCxnSpPr>
          <p:cNvPr id="120" name="Прямая со стрелкой 119"/>
          <p:cNvCxnSpPr>
            <a:stCxn id="107" idx="2"/>
          </p:cNvCxnSpPr>
          <p:nvPr/>
        </p:nvCxnSpPr>
        <p:spPr>
          <a:xfrm>
            <a:off x="2352868" y="5627834"/>
            <a:ext cx="1643" cy="189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AutoShape 19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 flipH="1" flipV="1">
            <a:off x="301749" y="5381117"/>
            <a:ext cx="792162" cy="242376"/>
          </a:xfrm>
          <a:prstGeom prst="wedgeRectCallout">
            <a:avLst>
              <a:gd name="adj1" fmla="val -150011"/>
              <a:gd name="adj2" fmla="val -5119"/>
            </a:avLst>
          </a:prstGeom>
          <a:solidFill>
            <a:srgbClr val="FFFFFF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rot="10800000" lIns="18000" tIns="18000" rIns="18000" bIns="18000" anchor="ctr" anchorCtr="1"/>
          <a:lstStyle>
            <a:lvl1pPr marL="46038" indent="-46038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/>
            <a:r>
              <a:rPr lang="ru-RU" altLang="ru-RU" sz="500" dirty="0" smtClean="0">
                <a:latin typeface="Arial" panose="020B0604020202020204" pitchFamily="34" charset="0"/>
              </a:rPr>
              <a:t>Отправка инструмента на калибровку, внешним контрагентам</a:t>
            </a:r>
            <a:endParaRPr lang="en-US" altLang="ru-RU" sz="500" dirty="0">
              <a:latin typeface="Arial" panose="020B0604020202020204" pitchFamily="34" charset="0"/>
            </a:endParaRPr>
          </a:p>
        </p:txBody>
      </p:sp>
      <p:sp>
        <p:nvSpPr>
          <p:cNvPr id="39" name="Flussdiagramm: Verbindungsstelle 18"/>
          <p:cNvSpPr>
            <a:spLocks noChangeArrowheads="1"/>
          </p:cNvSpPr>
          <p:nvPr/>
        </p:nvSpPr>
        <p:spPr bwMode="auto">
          <a:xfrm>
            <a:off x="2221371" y="862010"/>
            <a:ext cx="287338" cy="215900"/>
          </a:xfrm>
          <a:prstGeom prst="flowChartConnector">
            <a:avLst/>
          </a:prstGeom>
          <a:solidFill>
            <a:srgbClr val="00B050"/>
          </a:solidFill>
          <a:ln w="3175" algn="ctr">
            <a:solidFill>
              <a:srgbClr val="000000"/>
            </a:solidFill>
            <a:round/>
            <a:headEnd/>
            <a:tailEnd/>
          </a:ln>
        </p:spPr>
        <p:txBody>
          <a:bodyPr lIns="36000" tIns="36000" rIns="36000" bIns="36000" anchor="ctr"/>
          <a:lstStyle>
            <a:lvl1pPr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ru-RU" sz="700" b="1" dirty="0" smtClean="0"/>
              <a:t>A_1</a:t>
            </a:r>
            <a:endParaRPr lang="en-US" altLang="ru-RU" sz="500" b="1" dirty="0"/>
          </a:p>
        </p:txBody>
      </p:sp>
      <p:sp>
        <p:nvSpPr>
          <p:cNvPr id="40" name="Rectangle 16596" descr="Светлый диагональный 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918354" y="1245367"/>
            <a:ext cx="885825" cy="360363"/>
          </a:xfrm>
          <a:prstGeom prst="rect">
            <a:avLst/>
          </a:prstGeom>
          <a:solidFill>
            <a:srgbClr val="FEDF5C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/>
          <a:p>
            <a:pPr algn="ctr" defTabSz="682625">
              <a:lnSpc>
                <a:spcPct val="80000"/>
              </a:lnSpc>
            </a:pPr>
            <a:r>
              <a:rPr lang="ru-RU" altLang="ru-RU" sz="500" b="1" dirty="0" smtClean="0"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rPr>
              <a:t>Выявление наличия неисправного инструмента</a:t>
            </a:r>
            <a:endParaRPr lang="en-GB" altLang="ru-RU" sz="500" b="1" dirty="0">
              <a:latin typeface="Arial" panose="020B0604020202020204" pitchFamily="34" charset="0"/>
              <a:ea typeface="Arial Unicode MS" pitchFamily="34" charset="-128"/>
              <a:cs typeface="Arial" panose="020B0604020202020204" pitchFamily="34" charset="0"/>
            </a:endParaRPr>
          </a:p>
        </p:txBody>
      </p:sp>
      <p:sp>
        <p:nvSpPr>
          <p:cNvPr id="41" name="Rectangle 16597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918354" y="1523180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359</a:t>
            </a:r>
            <a:endParaRPr lang="en-US" altLang="ru-RU" sz="500" b="1" dirty="0"/>
          </a:p>
        </p:txBody>
      </p:sp>
      <p:sp>
        <p:nvSpPr>
          <p:cNvPr id="42" name="Rectangle 16597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2504935" y="1523180"/>
            <a:ext cx="299244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Шаг 10</a:t>
            </a:r>
            <a:endParaRPr lang="en-US" altLang="ru-RU" sz="500" b="1" dirty="0"/>
          </a:p>
        </p:txBody>
      </p:sp>
      <p:cxnSp>
        <p:nvCxnSpPr>
          <p:cNvPr id="43" name="Прямая со стрелкой 42"/>
          <p:cNvCxnSpPr>
            <a:stCxn id="39" idx="4"/>
            <a:endCxn id="40" idx="0"/>
          </p:cNvCxnSpPr>
          <p:nvPr/>
        </p:nvCxnSpPr>
        <p:spPr>
          <a:xfrm flipH="1">
            <a:off x="2361267" y="1077910"/>
            <a:ext cx="3773" cy="1674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/>
          <p:cNvCxnSpPr>
            <a:stCxn id="40" idx="2"/>
            <a:endCxn id="70" idx="0"/>
          </p:cNvCxnSpPr>
          <p:nvPr/>
        </p:nvCxnSpPr>
        <p:spPr>
          <a:xfrm flipH="1">
            <a:off x="2358475" y="1605730"/>
            <a:ext cx="2792" cy="1416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16596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901423" y="3119622"/>
            <a:ext cx="885825" cy="360363"/>
          </a:xfrm>
          <a:prstGeom prst="rect">
            <a:avLst/>
          </a:prstGeom>
          <a:solidFill>
            <a:srgbClr val="FEDF5C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>
            <a:lvl1pPr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endParaRPr lang="en-US" altLang="ru-RU" sz="500" b="1" dirty="0" smtClean="0">
              <a:latin typeface="Arial" panose="020B0604020202020204" pitchFamily="34" charset="0"/>
            </a:endParaRPr>
          </a:p>
          <a:p>
            <a:pPr algn="ctr" eaLnBrk="1" hangingPunct="1">
              <a:lnSpc>
                <a:spcPct val="80000"/>
              </a:lnSpc>
            </a:pPr>
            <a:r>
              <a:rPr lang="en-US" altLang="ru-RU" sz="500" b="1" dirty="0" smtClean="0">
                <a:latin typeface="Arial" panose="020B0604020202020204" pitchFamily="34" charset="0"/>
              </a:rPr>
              <a:t>Parts Transfer </a:t>
            </a:r>
            <a:r>
              <a:rPr lang="ru-RU" altLang="ru-RU" sz="500" b="1" dirty="0" smtClean="0">
                <a:latin typeface="Arial" panose="020B0604020202020204" pitchFamily="34" charset="0"/>
              </a:rPr>
              <a:t>на склад</a:t>
            </a:r>
            <a:r>
              <a:rPr lang="en-US" altLang="ru-RU" sz="500" b="1" dirty="0" smtClean="0">
                <a:latin typeface="Arial" panose="020B0604020202020204" pitchFamily="34" charset="0"/>
              </a:rPr>
              <a:t> </a:t>
            </a:r>
            <a:r>
              <a:rPr lang="ru-RU" altLang="ru-RU" sz="500" b="1" dirty="0" smtClean="0">
                <a:latin typeface="Arial" panose="020B0604020202020204" pitchFamily="34" charset="0"/>
              </a:rPr>
              <a:t>302*</a:t>
            </a:r>
            <a:r>
              <a:rPr lang="en-US" altLang="ru-RU" sz="500" b="1" dirty="0" smtClean="0">
                <a:latin typeface="Arial" panose="020B0604020202020204" pitchFamily="34" charset="0"/>
              </a:rPr>
              <a:t> </a:t>
            </a:r>
            <a:endParaRPr lang="en-GB" altLang="ru-RU" sz="500" b="1" dirty="0">
              <a:latin typeface="Arial" panose="020B0604020202020204" pitchFamily="34" charset="0"/>
            </a:endParaRPr>
          </a:p>
        </p:txBody>
      </p:sp>
      <p:sp>
        <p:nvSpPr>
          <p:cNvPr id="46" name="Rectangle 16597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495624" y="3398757"/>
            <a:ext cx="296539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Шаг 10.3.2 </a:t>
            </a:r>
            <a:endParaRPr lang="en-US" altLang="ru-RU" sz="500" b="1" dirty="0"/>
          </a:p>
        </p:txBody>
      </p:sp>
      <p:sp>
        <p:nvSpPr>
          <p:cNvPr id="47" name="Rectangle 16597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1901423" y="3398757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293</a:t>
            </a:r>
            <a:endParaRPr lang="en-US" altLang="ru-RU" sz="500" b="1" dirty="0"/>
          </a:p>
        </p:txBody>
      </p:sp>
      <p:sp>
        <p:nvSpPr>
          <p:cNvPr id="48" name="Rectangle 16596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1901423" y="2591066"/>
            <a:ext cx="885825" cy="360363"/>
          </a:xfrm>
          <a:prstGeom prst="rect">
            <a:avLst/>
          </a:prstGeom>
          <a:solidFill>
            <a:srgbClr val="FEDF5C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>
            <a:lvl1pPr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Arial" panose="020B0604020202020204" pitchFamily="34" charset="0"/>
              </a:rPr>
              <a:t>Перевод инструмента в неисправное состояние</a:t>
            </a:r>
            <a:endParaRPr lang="en-GB" altLang="ru-RU" sz="500" b="1" dirty="0">
              <a:latin typeface="Arial" panose="020B0604020202020204" pitchFamily="34" charset="0"/>
            </a:endParaRPr>
          </a:p>
        </p:txBody>
      </p:sp>
      <p:sp>
        <p:nvSpPr>
          <p:cNvPr id="50" name="Rectangle 16597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495624" y="2862581"/>
            <a:ext cx="296539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Шаг</a:t>
            </a:r>
            <a:r>
              <a:rPr lang="ru-RU" altLang="ru-RU" sz="500" b="1" dirty="0">
                <a:latin typeface="+mn-lt"/>
              </a:rPr>
              <a:t> </a:t>
            </a:r>
            <a:r>
              <a:rPr lang="ru-RU" altLang="ru-RU" sz="500" b="1" dirty="0" smtClean="0">
                <a:latin typeface="+mn-lt"/>
              </a:rPr>
              <a:t>10.3.1</a:t>
            </a:r>
            <a:endParaRPr lang="en-US" altLang="ru-RU" sz="500" b="1" dirty="0"/>
          </a:p>
        </p:txBody>
      </p:sp>
      <p:sp>
        <p:nvSpPr>
          <p:cNvPr id="52" name="Rectangle 16597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1901423" y="2862581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221</a:t>
            </a:r>
            <a:endParaRPr lang="en-US" altLang="ru-RU" sz="500" b="1" dirty="0"/>
          </a:p>
        </p:txBody>
      </p:sp>
      <p:sp>
        <p:nvSpPr>
          <p:cNvPr id="55" name="Rectangle 16596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1901423" y="3651698"/>
            <a:ext cx="885825" cy="360363"/>
          </a:xfrm>
          <a:prstGeom prst="rect">
            <a:avLst/>
          </a:prstGeom>
          <a:solidFill>
            <a:srgbClr val="FEDF5C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>
            <a:lvl1pPr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endParaRPr lang="ru-RU" altLang="ru-RU" sz="500" b="1" dirty="0"/>
          </a:p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Arial" panose="020B0604020202020204" pitchFamily="34" charset="0"/>
              </a:rPr>
              <a:t>Перемещение со склада 302*</a:t>
            </a:r>
            <a:r>
              <a:rPr lang="en-US" altLang="ru-RU" sz="500" b="1" dirty="0" smtClean="0">
                <a:latin typeface="Arial" panose="020B0604020202020204" pitchFamily="34" charset="0"/>
              </a:rPr>
              <a:t> </a:t>
            </a:r>
            <a:r>
              <a:rPr lang="ru-RU" altLang="ru-RU" sz="500" b="1" dirty="0" smtClean="0">
                <a:latin typeface="Arial" panose="020B0604020202020204" pitchFamily="34" charset="0"/>
              </a:rPr>
              <a:t> на склад </a:t>
            </a:r>
            <a:r>
              <a:rPr lang="en-US" altLang="ru-RU" sz="500" b="1" dirty="0" smtClean="0">
                <a:latin typeface="Arial" panose="020B0604020202020204" pitchFamily="34" charset="0"/>
              </a:rPr>
              <a:t>TOOLS</a:t>
            </a:r>
            <a:endParaRPr lang="en-GB" altLang="ru-RU" sz="500" b="1" dirty="0">
              <a:latin typeface="Arial" panose="020B0604020202020204" pitchFamily="34" charset="0"/>
            </a:endParaRPr>
          </a:p>
        </p:txBody>
      </p:sp>
      <p:sp>
        <p:nvSpPr>
          <p:cNvPr id="59" name="Rectangle 16597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490709" y="3930097"/>
            <a:ext cx="296367" cy="81964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Шаг 10.2.2</a:t>
            </a:r>
            <a:endParaRPr lang="en-US" altLang="ru-RU" sz="500" b="1" dirty="0"/>
          </a:p>
        </p:txBody>
      </p:sp>
      <p:sp>
        <p:nvSpPr>
          <p:cNvPr id="60" name="Rectangle 16597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1901423" y="3930097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2015/230</a:t>
            </a:r>
            <a:endParaRPr lang="en-US" altLang="ru-RU" sz="500" b="1" dirty="0"/>
          </a:p>
        </p:txBody>
      </p:sp>
      <p:sp>
        <p:nvSpPr>
          <p:cNvPr id="61" name="Rectangle 16596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1901337" y="4186552"/>
            <a:ext cx="885825" cy="360363"/>
          </a:xfrm>
          <a:prstGeom prst="rect">
            <a:avLst/>
          </a:prstGeom>
          <a:solidFill>
            <a:srgbClr val="FEDF5C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>
            <a:lvl1pPr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endParaRPr lang="ru-RU" altLang="ru-RU" sz="500" b="1" dirty="0"/>
          </a:p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Arial" panose="020B0604020202020204" pitchFamily="34" charset="0"/>
              </a:rPr>
              <a:t> Получение на склад </a:t>
            </a:r>
            <a:r>
              <a:rPr lang="en-US" altLang="ru-RU" sz="500" b="1" dirty="0" smtClean="0">
                <a:latin typeface="Arial" panose="020B0604020202020204" pitchFamily="34" charset="0"/>
              </a:rPr>
              <a:t>TOOLS</a:t>
            </a:r>
            <a:r>
              <a:rPr lang="ru-RU" altLang="ru-RU" sz="500" b="1" dirty="0" smtClean="0">
                <a:latin typeface="Arial" panose="020B0604020202020204" pitchFamily="34" charset="0"/>
              </a:rPr>
              <a:t> на </a:t>
            </a:r>
            <a:r>
              <a:rPr lang="en-US" altLang="ru-RU" sz="500" b="1" dirty="0" smtClean="0">
                <a:latin typeface="Arial" panose="020B0604020202020204" pitchFamily="34" charset="0"/>
              </a:rPr>
              <a:t> U/S </a:t>
            </a:r>
            <a:r>
              <a:rPr lang="ru-RU" altLang="ru-RU" sz="500" b="1" dirty="0" smtClean="0">
                <a:latin typeface="Arial" panose="020B0604020202020204" pitchFamily="34" charset="0"/>
              </a:rPr>
              <a:t>локацию</a:t>
            </a:r>
            <a:endParaRPr lang="en-GB" altLang="ru-RU" sz="500" b="1" dirty="0">
              <a:latin typeface="Arial" panose="020B0604020202020204" pitchFamily="34" charset="0"/>
            </a:endParaRPr>
          </a:p>
        </p:txBody>
      </p:sp>
      <p:sp>
        <p:nvSpPr>
          <p:cNvPr id="62" name="Rectangle 16597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1901337" y="4464951"/>
            <a:ext cx="258908" cy="82550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2</a:t>
            </a:r>
            <a:r>
              <a:rPr lang="en-US" altLang="ru-RU" sz="500" b="1" dirty="0" smtClean="0">
                <a:latin typeface="+mn-lt"/>
              </a:rPr>
              <a:t>121</a:t>
            </a:r>
            <a:endParaRPr lang="en-US" altLang="ru-RU" sz="500" b="1" dirty="0"/>
          </a:p>
        </p:txBody>
      </p:sp>
      <p:cxnSp>
        <p:nvCxnSpPr>
          <p:cNvPr id="63" name="AutoShape 3706"/>
          <p:cNvCxnSpPr>
            <a:cxnSpLocks noChangeShapeType="1"/>
            <a:stCxn id="55" idx="2"/>
            <a:endCxn id="61" idx="0"/>
          </p:cNvCxnSpPr>
          <p:nvPr/>
        </p:nvCxnSpPr>
        <p:spPr bwMode="auto">
          <a:xfrm flipH="1">
            <a:off x="2344250" y="4012061"/>
            <a:ext cx="86" cy="174491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" name="Rectangle 16597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2490709" y="4464951"/>
            <a:ext cx="296367" cy="81964"/>
          </a:xfrm>
          <a:prstGeom prst="rect">
            <a:avLst/>
          </a:prstGeom>
          <a:solidFill>
            <a:srgbClr val="FF9900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4278" tIns="33425" rIns="64278" bIns="33425" anchor="ctr" anchorCtr="1"/>
          <a:lstStyle>
            <a:lvl1pPr marL="33338" indent="-33338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524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524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Шаг 10.2.</a:t>
            </a:r>
            <a:r>
              <a:rPr lang="ru-RU" altLang="ru-RU" sz="500" b="1" dirty="0">
                <a:latin typeface="+mn-lt"/>
              </a:rPr>
              <a:t>3</a:t>
            </a:r>
            <a:endParaRPr lang="en-US" altLang="ru-RU" sz="500" b="1" dirty="0"/>
          </a:p>
        </p:txBody>
      </p:sp>
      <p:cxnSp>
        <p:nvCxnSpPr>
          <p:cNvPr id="65" name="Прямая со стрелкой 64"/>
          <p:cNvCxnSpPr>
            <a:stCxn id="48" idx="2"/>
            <a:endCxn id="45" idx="0"/>
          </p:cNvCxnSpPr>
          <p:nvPr/>
        </p:nvCxnSpPr>
        <p:spPr>
          <a:xfrm>
            <a:off x="2344336" y="2951429"/>
            <a:ext cx="0" cy="1681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65"/>
          <p:cNvCxnSpPr>
            <a:stCxn id="45" idx="2"/>
            <a:endCxn id="55" idx="0"/>
          </p:cNvCxnSpPr>
          <p:nvPr/>
        </p:nvCxnSpPr>
        <p:spPr>
          <a:xfrm>
            <a:off x="2344336" y="3479985"/>
            <a:ext cx="0" cy="1717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16596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3157675" y="3120036"/>
            <a:ext cx="885825" cy="3603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>
            <a:lvl1pPr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Arial" panose="020B0604020202020204" pitchFamily="34" charset="0"/>
              </a:rPr>
              <a:t>Автоматическое создание инструмента на складе в</a:t>
            </a:r>
            <a:r>
              <a:rPr lang="en-US" altLang="ru-RU" sz="500" b="1" dirty="0" smtClean="0">
                <a:latin typeface="Arial" panose="020B0604020202020204" pitchFamily="34" charset="0"/>
              </a:rPr>
              <a:t>SAP (T01)</a:t>
            </a:r>
            <a:endParaRPr lang="en-US" altLang="ru-RU" sz="500" b="1" dirty="0">
              <a:latin typeface="Arial" panose="020B0604020202020204" pitchFamily="34" charset="0"/>
            </a:endParaRPr>
          </a:p>
        </p:txBody>
      </p:sp>
      <p:sp>
        <p:nvSpPr>
          <p:cNvPr id="68" name="Rectangle 16597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3157675" y="3397891"/>
            <a:ext cx="258995" cy="82507"/>
          </a:xfrm>
          <a:prstGeom prst="rect">
            <a:avLst/>
          </a:prstGeom>
          <a:solidFill>
            <a:schemeClr val="accent2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7318" tIns="18000" rIns="67318" bIns="35006"/>
          <a:lstStyle>
            <a:lvl1pPr marL="34925" indent="-34925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Авто</a:t>
            </a:r>
            <a:endParaRPr lang="en-US" altLang="ru-RU" sz="500" b="1" dirty="0">
              <a:latin typeface="+mn-lt"/>
            </a:endParaRPr>
          </a:p>
        </p:txBody>
      </p:sp>
      <p:cxnSp>
        <p:nvCxnSpPr>
          <p:cNvPr id="69" name="Прямая со стрелкой 68"/>
          <p:cNvCxnSpPr>
            <a:stCxn id="45" idx="3"/>
            <a:endCxn id="67" idx="1"/>
          </p:cNvCxnSpPr>
          <p:nvPr/>
        </p:nvCxnSpPr>
        <p:spPr>
          <a:xfrm>
            <a:off x="2787248" y="3299804"/>
            <a:ext cx="370427" cy="4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AutoShape 98"/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1818725" y="1747425"/>
            <a:ext cx="1079500" cy="431800"/>
          </a:xfrm>
          <a:prstGeom prst="diamond">
            <a:avLst/>
          </a:prstGeom>
          <a:solidFill>
            <a:schemeClr val="accent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lIns="75405" tIns="47883" rIns="94258" bIns="47883" anchor="ctr"/>
          <a:lstStyle>
            <a:lvl1pPr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/>
            <a:r>
              <a:rPr lang="ru-RU" altLang="ru-RU" sz="500" b="1" dirty="0" smtClean="0">
                <a:latin typeface="Arial" panose="020B0604020202020204" pitchFamily="34" charset="0"/>
              </a:rPr>
              <a:t>Требуется поверка </a:t>
            </a:r>
          </a:p>
          <a:p>
            <a:pPr algn="ctr" eaLnBrk="1" hangingPunct="1"/>
            <a:r>
              <a:rPr lang="ru-RU" altLang="ru-RU" sz="500" b="1" dirty="0" smtClean="0">
                <a:latin typeface="Arial" panose="020B0604020202020204" pitchFamily="34" charset="0"/>
              </a:rPr>
              <a:t>Инструмента?</a:t>
            </a:r>
            <a:endParaRPr lang="en-US" altLang="ru-RU" sz="500" b="1" dirty="0">
              <a:latin typeface="Arial" panose="020B0604020202020204" pitchFamily="34" charset="0"/>
            </a:endParaRPr>
          </a:p>
        </p:txBody>
      </p:sp>
      <p:cxnSp>
        <p:nvCxnSpPr>
          <p:cNvPr id="71" name="Прямая со стрелкой 70"/>
          <p:cNvCxnSpPr>
            <a:stCxn id="70" idx="1"/>
            <a:endCxn id="78" idx="3"/>
          </p:cNvCxnSpPr>
          <p:nvPr/>
        </p:nvCxnSpPr>
        <p:spPr>
          <a:xfrm flipH="1">
            <a:off x="1669103" y="1963325"/>
            <a:ext cx="14962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 Box 3962"/>
          <p:cNvSpPr txBox="1">
            <a:spLocks noChangeArrowheads="1"/>
          </p:cNvSpPr>
          <p:nvPr/>
        </p:nvSpPr>
        <p:spPr bwMode="auto">
          <a:xfrm>
            <a:off x="1573121" y="1729847"/>
            <a:ext cx="341585" cy="189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5765" tIns="47883" rIns="95765" bIns="47883">
            <a:spAutoFit/>
          </a:bodyPr>
          <a:lstStyle>
            <a:lvl1pPr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600" dirty="0">
                <a:latin typeface="+mn-lt"/>
              </a:rPr>
              <a:t>Да</a:t>
            </a:r>
          </a:p>
        </p:txBody>
      </p:sp>
      <p:sp>
        <p:nvSpPr>
          <p:cNvPr id="73" name="Text Box 3962"/>
          <p:cNvSpPr txBox="1">
            <a:spLocks noChangeArrowheads="1"/>
          </p:cNvSpPr>
          <p:nvPr/>
        </p:nvSpPr>
        <p:spPr bwMode="auto">
          <a:xfrm>
            <a:off x="2836794" y="1781026"/>
            <a:ext cx="341585" cy="189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5765" tIns="47883" rIns="95765" bIns="47883">
            <a:spAutoFit/>
          </a:bodyPr>
          <a:lstStyle>
            <a:lvl1pPr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600" dirty="0" smtClean="0">
                <a:latin typeface="+mn-lt"/>
              </a:rPr>
              <a:t>Нет</a:t>
            </a:r>
            <a:endParaRPr lang="ru-RU" altLang="ru-RU" sz="600" dirty="0">
              <a:latin typeface="+mn-lt"/>
            </a:endParaRPr>
          </a:p>
        </p:txBody>
      </p:sp>
      <p:cxnSp>
        <p:nvCxnSpPr>
          <p:cNvPr id="74" name="AutoShape 3706"/>
          <p:cNvCxnSpPr>
            <a:cxnSpLocks noChangeShapeType="1"/>
            <a:stCxn id="70" idx="3"/>
            <a:endCxn id="40" idx="3"/>
          </p:cNvCxnSpPr>
          <p:nvPr/>
        </p:nvCxnSpPr>
        <p:spPr bwMode="auto">
          <a:xfrm flipH="1" flipV="1">
            <a:off x="2804179" y="1425549"/>
            <a:ext cx="94046" cy="537776"/>
          </a:xfrm>
          <a:prstGeom prst="bentConnector3">
            <a:avLst>
              <a:gd name="adj1" fmla="val -243073"/>
            </a:avLst>
          </a:prstGeom>
          <a:noFill/>
          <a:ln w="3175">
            <a:solidFill>
              <a:schemeClr val="tx1"/>
            </a:solidFill>
            <a:miter lim="800000"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5" name="AutoShape 19"/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 flipH="1" flipV="1">
            <a:off x="805128" y="2448899"/>
            <a:ext cx="792162" cy="192874"/>
          </a:xfrm>
          <a:prstGeom prst="wedgeRectCallout">
            <a:avLst>
              <a:gd name="adj1" fmla="val -84280"/>
              <a:gd name="adj2" fmla="val -109194"/>
            </a:avLst>
          </a:prstGeom>
          <a:solidFill>
            <a:srgbClr val="FFFFFF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rot="10800000" lIns="18000" tIns="18000" rIns="18000" bIns="18000" anchor="ctr" anchorCtr="1"/>
          <a:lstStyle>
            <a:lvl1pPr marL="46038" indent="-46038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/>
            <a:r>
              <a:rPr lang="ru-RU" altLang="ru-RU" sz="500" dirty="0" smtClean="0">
                <a:latin typeface="Arial" panose="020B0604020202020204" pitchFamily="34" charset="0"/>
              </a:rPr>
              <a:t>Выполняет МОЛ склада  </a:t>
            </a:r>
            <a:endParaRPr lang="en-US" altLang="ru-RU" sz="500" dirty="0">
              <a:latin typeface="Arial" panose="020B0604020202020204" pitchFamily="34" charset="0"/>
            </a:endParaRPr>
          </a:p>
        </p:txBody>
      </p:sp>
      <p:sp>
        <p:nvSpPr>
          <p:cNvPr id="76" name="Flussdiagramm: Verbindungsstelle 18"/>
          <p:cNvSpPr>
            <a:spLocks noChangeArrowheads="1"/>
          </p:cNvSpPr>
          <p:nvPr/>
        </p:nvSpPr>
        <p:spPr bwMode="auto">
          <a:xfrm>
            <a:off x="2207232" y="5814708"/>
            <a:ext cx="287338" cy="215900"/>
          </a:xfrm>
          <a:prstGeom prst="flowChartConnector">
            <a:avLst/>
          </a:prstGeom>
          <a:solidFill>
            <a:srgbClr val="00B050"/>
          </a:solidFill>
          <a:ln w="3175" algn="ctr">
            <a:solidFill>
              <a:srgbClr val="000000"/>
            </a:solidFill>
            <a:round/>
            <a:headEnd/>
            <a:tailEnd/>
          </a:ln>
        </p:spPr>
        <p:txBody>
          <a:bodyPr lIns="36000" tIns="36000" rIns="36000" bIns="36000" anchor="ctr"/>
          <a:lstStyle>
            <a:lvl1pPr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ru-RU" altLang="ru-RU" sz="700" b="1" dirty="0" smtClean="0"/>
              <a:t>Б</a:t>
            </a:r>
            <a:endParaRPr lang="en-US" altLang="ru-RU" sz="500" b="1" dirty="0"/>
          </a:p>
        </p:txBody>
      </p:sp>
      <p:sp>
        <p:nvSpPr>
          <p:cNvPr id="77" name="Flussdiagramm: Verbindungsstelle 18"/>
          <p:cNvSpPr>
            <a:spLocks noChangeArrowheads="1"/>
          </p:cNvSpPr>
          <p:nvPr/>
        </p:nvSpPr>
        <p:spPr bwMode="auto">
          <a:xfrm>
            <a:off x="6556277" y="1659643"/>
            <a:ext cx="209746" cy="215900"/>
          </a:xfrm>
          <a:prstGeom prst="flowChartConnector">
            <a:avLst/>
          </a:prstGeom>
          <a:solidFill>
            <a:srgbClr val="00B050"/>
          </a:solidFill>
          <a:ln w="3175" algn="ctr">
            <a:solidFill>
              <a:srgbClr val="000000"/>
            </a:solidFill>
            <a:round/>
            <a:headEnd/>
            <a:tailEnd/>
          </a:ln>
        </p:spPr>
        <p:txBody>
          <a:bodyPr lIns="36000" tIns="36000" rIns="36000" bIns="36000" anchor="ctr"/>
          <a:lstStyle>
            <a:lvl1pPr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ru-RU" altLang="ru-RU" sz="700" b="1" dirty="0" smtClean="0"/>
              <a:t>Б</a:t>
            </a:r>
            <a:endParaRPr lang="en-US" altLang="ru-RU" sz="500" b="1" dirty="0"/>
          </a:p>
        </p:txBody>
      </p:sp>
      <p:sp>
        <p:nvSpPr>
          <p:cNvPr id="78" name="AutoShape 98"/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89603" y="1747425"/>
            <a:ext cx="1079500" cy="431800"/>
          </a:xfrm>
          <a:prstGeom prst="diamond">
            <a:avLst/>
          </a:prstGeom>
          <a:solidFill>
            <a:schemeClr val="accent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lIns="75405" tIns="47883" rIns="94258" bIns="47883" anchor="ctr"/>
          <a:lstStyle>
            <a:lvl1pPr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/>
            <a:r>
              <a:rPr lang="ru-RU" altLang="ru-RU" sz="500" b="1" dirty="0" smtClean="0">
                <a:latin typeface="Arial" panose="020B0604020202020204" pitchFamily="34" charset="0"/>
              </a:rPr>
              <a:t>Калибровка во</a:t>
            </a:r>
          </a:p>
          <a:p>
            <a:pPr algn="ctr" eaLnBrk="1" hangingPunct="1"/>
            <a:r>
              <a:rPr lang="ru-RU" altLang="ru-RU" sz="500" b="1" dirty="0" smtClean="0">
                <a:latin typeface="Arial" panose="020B0604020202020204" pitchFamily="34" charset="0"/>
              </a:rPr>
              <a:t> внутреннем цеху АФЛ?</a:t>
            </a:r>
            <a:endParaRPr lang="en-US" altLang="ru-RU" sz="500" b="1" dirty="0">
              <a:latin typeface="Arial" panose="020B0604020202020204" pitchFamily="34" charset="0"/>
            </a:endParaRPr>
          </a:p>
        </p:txBody>
      </p:sp>
      <p:sp>
        <p:nvSpPr>
          <p:cNvPr id="80" name="Text Box 3962"/>
          <p:cNvSpPr txBox="1">
            <a:spLocks noChangeArrowheads="1"/>
          </p:cNvSpPr>
          <p:nvPr/>
        </p:nvSpPr>
        <p:spPr bwMode="auto">
          <a:xfrm>
            <a:off x="1327518" y="2208214"/>
            <a:ext cx="341585" cy="189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5765" tIns="47883" rIns="95765" bIns="47883">
            <a:spAutoFit/>
          </a:bodyPr>
          <a:lstStyle>
            <a:lvl1pPr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600" dirty="0" smtClean="0">
                <a:latin typeface="+mn-lt"/>
              </a:rPr>
              <a:t>Нет</a:t>
            </a:r>
            <a:endParaRPr lang="ru-RU" altLang="ru-RU" sz="600" dirty="0">
              <a:latin typeface="+mn-lt"/>
            </a:endParaRPr>
          </a:p>
        </p:txBody>
      </p:sp>
      <p:sp>
        <p:nvSpPr>
          <p:cNvPr id="81" name="Text Box 3962"/>
          <p:cNvSpPr txBox="1">
            <a:spLocks noChangeArrowheads="1"/>
          </p:cNvSpPr>
          <p:nvPr/>
        </p:nvSpPr>
        <p:spPr bwMode="auto">
          <a:xfrm>
            <a:off x="309449" y="1781026"/>
            <a:ext cx="341585" cy="189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5765" tIns="47883" rIns="95765" bIns="47883">
            <a:spAutoFit/>
          </a:bodyPr>
          <a:lstStyle>
            <a:lvl1pPr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600" dirty="0">
                <a:latin typeface="+mn-lt"/>
              </a:rPr>
              <a:t>Да</a:t>
            </a:r>
          </a:p>
        </p:txBody>
      </p:sp>
      <p:cxnSp>
        <p:nvCxnSpPr>
          <p:cNvPr id="82" name="AutoShape 3706"/>
          <p:cNvCxnSpPr>
            <a:cxnSpLocks noChangeShapeType="1"/>
            <a:stCxn id="78" idx="2"/>
            <a:endCxn id="48" idx="0"/>
          </p:cNvCxnSpPr>
          <p:nvPr/>
        </p:nvCxnSpPr>
        <p:spPr bwMode="auto">
          <a:xfrm rot="16200000" flipH="1">
            <a:off x="1530924" y="1777653"/>
            <a:ext cx="411841" cy="1214983"/>
          </a:xfrm>
          <a:prstGeom prst="bentConnector3">
            <a:avLst>
              <a:gd name="adj1" fmla="val 50000"/>
            </a:avLst>
          </a:prstGeom>
          <a:noFill/>
          <a:ln w="3175">
            <a:solidFill>
              <a:schemeClr val="tx1"/>
            </a:solidFill>
            <a:miter lim="800000"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" name="AutoShape 3706"/>
          <p:cNvCxnSpPr>
            <a:cxnSpLocks noChangeShapeType="1"/>
            <a:stCxn id="78" idx="1"/>
            <a:endCxn id="86" idx="0"/>
          </p:cNvCxnSpPr>
          <p:nvPr/>
        </p:nvCxnSpPr>
        <p:spPr bwMode="auto">
          <a:xfrm rot="10800000" flipV="1">
            <a:off x="309673" y="1963325"/>
            <a:ext cx="279931" cy="361942"/>
          </a:xfrm>
          <a:prstGeom prst="bentConnector2">
            <a:avLst/>
          </a:prstGeom>
          <a:noFill/>
          <a:ln w="3175">
            <a:solidFill>
              <a:schemeClr val="tx1"/>
            </a:solidFill>
            <a:miter lim="800000"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6" name="Oval 44"/>
          <p:cNvSpPr>
            <a:spLocks noChangeArrowheads="1"/>
          </p:cNvSpPr>
          <p:nvPr/>
        </p:nvSpPr>
        <p:spPr bwMode="auto">
          <a:xfrm>
            <a:off x="166003" y="2325267"/>
            <a:ext cx="287338" cy="287338"/>
          </a:xfrm>
          <a:prstGeom prst="ellipse">
            <a:avLst/>
          </a:prstGeom>
          <a:solidFill>
            <a:srgbClr val="77ADAA"/>
          </a:solidFill>
          <a:ln w="3175" algn="ctr">
            <a:solidFill>
              <a:srgbClr val="000000"/>
            </a:solidFill>
            <a:round/>
            <a:headEnd/>
            <a:tailEnd type="none" w="lg" len="lg"/>
          </a:ln>
        </p:spPr>
        <p:txBody>
          <a:bodyPr lIns="0" tIns="0" rIns="0" bIns="0" anchor="ctr"/>
          <a:lstStyle>
            <a:lvl1pPr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957263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de-DE" altLang="ru-RU" sz="400"/>
              <a:t>Process End</a:t>
            </a:r>
          </a:p>
        </p:txBody>
      </p:sp>
      <p:sp>
        <p:nvSpPr>
          <p:cNvPr id="91" name="Rectangle 16596"/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3157675" y="3652889"/>
            <a:ext cx="885825" cy="3603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>
            <a:lvl1pPr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endParaRPr lang="ru-RU" altLang="ru-RU" sz="500" b="1" dirty="0" smtClean="0">
              <a:latin typeface="Arial" panose="020B0604020202020204" pitchFamily="34" charset="0"/>
            </a:endParaRPr>
          </a:p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Arial" panose="020B0604020202020204" pitchFamily="34" charset="0"/>
              </a:rPr>
              <a:t>Интеграция опера</a:t>
            </a:r>
            <a:r>
              <a:rPr lang="ru-RU" altLang="ru-RU" sz="500" b="1" dirty="0">
                <a:latin typeface="Arial" panose="020B0604020202020204" pitchFamily="34" charset="0"/>
              </a:rPr>
              <a:t>ц</a:t>
            </a:r>
            <a:r>
              <a:rPr lang="ru-RU" altLang="ru-RU" sz="500" b="1" dirty="0" smtClean="0">
                <a:latin typeface="Arial" panose="020B0604020202020204" pitchFamily="34" charset="0"/>
              </a:rPr>
              <a:t>ии в </a:t>
            </a:r>
            <a:r>
              <a:rPr lang="en-US" altLang="ru-RU" sz="500" b="1" dirty="0" smtClean="0">
                <a:latin typeface="Arial" panose="020B0604020202020204" pitchFamily="34" charset="0"/>
              </a:rPr>
              <a:t>SAP</a:t>
            </a:r>
            <a:endParaRPr lang="en-US" altLang="ru-RU" sz="500" b="1" dirty="0">
              <a:latin typeface="Arial" panose="020B0604020202020204" pitchFamily="34" charset="0"/>
            </a:endParaRPr>
          </a:p>
        </p:txBody>
      </p:sp>
      <p:sp>
        <p:nvSpPr>
          <p:cNvPr id="92" name="Rectangle 16597"/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3157675" y="3930744"/>
            <a:ext cx="258995" cy="82507"/>
          </a:xfrm>
          <a:prstGeom prst="rect">
            <a:avLst/>
          </a:prstGeom>
          <a:solidFill>
            <a:schemeClr val="accent2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7318" tIns="18000" rIns="67318" bIns="35006"/>
          <a:lstStyle>
            <a:lvl1pPr marL="34925" indent="-34925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Авто</a:t>
            </a:r>
            <a:endParaRPr lang="en-US" altLang="ru-RU" sz="500" b="1" dirty="0">
              <a:latin typeface="+mn-lt"/>
            </a:endParaRPr>
          </a:p>
        </p:txBody>
      </p:sp>
      <p:sp>
        <p:nvSpPr>
          <p:cNvPr id="96" name="Rectangle 16596"/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3160380" y="4186552"/>
            <a:ext cx="885825" cy="3603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>
            <a:lvl1pPr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endParaRPr lang="ru-RU" altLang="ru-RU" sz="500" b="1" dirty="0" smtClean="0">
              <a:latin typeface="Arial" panose="020B0604020202020204" pitchFamily="34" charset="0"/>
            </a:endParaRPr>
          </a:p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Arial" panose="020B0604020202020204" pitchFamily="34" charset="0"/>
              </a:rPr>
              <a:t>Интеграция опера</a:t>
            </a:r>
            <a:r>
              <a:rPr lang="ru-RU" altLang="ru-RU" sz="500" b="1" dirty="0">
                <a:latin typeface="Arial" panose="020B0604020202020204" pitchFamily="34" charset="0"/>
              </a:rPr>
              <a:t>ц</a:t>
            </a:r>
            <a:r>
              <a:rPr lang="ru-RU" altLang="ru-RU" sz="500" b="1" dirty="0" smtClean="0">
                <a:latin typeface="Arial" panose="020B0604020202020204" pitchFamily="34" charset="0"/>
              </a:rPr>
              <a:t>ии в </a:t>
            </a:r>
            <a:r>
              <a:rPr lang="en-US" altLang="ru-RU" sz="500" b="1" dirty="0" smtClean="0">
                <a:latin typeface="Arial" panose="020B0604020202020204" pitchFamily="34" charset="0"/>
              </a:rPr>
              <a:t>SAP</a:t>
            </a:r>
            <a:endParaRPr lang="en-US" altLang="ru-RU" sz="500" b="1" dirty="0">
              <a:latin typeface="Arial" panose="020B0604020202020204" pitchFamily="34" charset="0"/>
            </a:endParaRPr>
          </a:p>
        </p:txBody>
      </p:sp>
      <p:sp>
        <p:nvSpPr>
          <p:cNvPr id="97" name="Rectangle 16597"/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3160380" y="4464407"/>
            <a:ext cx="258995" cy="82507"/>
          </a:xfrm>
          <a:prstGeom prst="rect">
            <a:avLst/>
          </a:prstGeom>
          <a:solidFill>
            <a:schemeClr val="accent2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7318" tIns="18000" rIns="67318" bIns="35006"/>
          <a:lstStyle>
            <a:lvl1pPr marL="34925" indent="-34925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Авто</a:t>
            </a:r>
            <a:endParaRPr lang="en-US" altLang="ru-RU" sz="500" b="1" dirty="0">
              <a:latin typeface="+mn-lt"/>
            </a:endParaRPr>
          </a:p>
        </p:txBody>
      </p:sp>
      <p:sp>
        <p:nvSpPr>
          <p:cNvPr id="98" name="Rectangle 16596"/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3157675" y="4733203"/>
            <a:ext cx="885825" cy="3603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>
            <a:lvl1pPr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endParaRPr lang="ru-RU" altLang="ru-RU" sz="500" b="1" dirty="0" smtClean="0">
              <a:latin typeface="Arial" panose="020B0604020202020204" pitchFamily="34" charset="0"/>
            </a:endParaRPr>
          </a:p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Arial" panose="020B0604020202020204" pitchFamily="34" charset="0"/>
              </a:rPr>
              <a:t>Интеграция опера</a:t>
            </a:r>
            <a:r>
              <a:rPr lang="ru-RU" altLang="ru-RU" sz="500" b="1" dirty="0">
                <a:latin typeface="Arial" panose="020B0604020202020204" pitchFamily="34" charset="0"/>
              </a:rPr>
              <a:t>ц</a:t>
            </a:r>
            <a:r>
              <a:rPr lang="ru-RU" altLang="ru-RU" sz="500" b="1" dirty="0" smtClean="0">
                <a:latin typeface="Arial" panose="020B0604020202020204" pitchFamily="34" charset="0"/>
              </a:rPr>
              <a:t>ии в </a:t>
            </a:r>
            <a:r>
              <a:rPr lang="en-US" altLang="ru-RU" sz="500" b="1" dirty="0" smtClean="0">
                <a:latin typeface="Arial" panose="020B0604020202020204" pitchFamily="34" charset="0"/>
              </a:rPr>
              <a:t>SAP</a:t>
            </a:r>
            <a:endParaRPr lang="en-US" altLang="ru-RU" sz="500" b="1" dirty="0">
              <a:latin typeface="Arial" panose="020B0604020202020204" pitchFamily="34" charset="0"/>
            </a:endParaRPr>
          </a:p>
        </p:txBody>
      </p:sp>
      <p:sp>
        <p:nvSpPr>
          <p:cNvPr id="100" name="Rectangle 16597"/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3157675" y="5011058"/>
            <a:ext cx="258995" cy="82507"/>
          </a:xfrm>
          <a:prstGeom prst="rect">
            <a:avLst/>
          </a:prstGeom>
          <a:solidFill>
            <a:schemeClr val="accent2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7318" tIns="18000" rIns="67318" bIns="35006"/>
          <a:lstStyle>
            <a:lvl1pPr marL="34925" indent="-34925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Авто</a:t>
            </a:r>
            <a:endParaRPr lang="en-US" altLang="ru-RU" sz="500" b="1" dirty="0">
              <a:latin typeface="+mn-lt"/>
            </a:endParaRPr>
          </a:p>
        </p:txBody>
      </p:sp>
      <p:sp>
        <p:nvSpPr>
          <p:cNvPr id="102" name="Rectangle 16596"/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3157675" y="5267471"/>
            <a:ext cx="885825" cy="36036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>
            <a:lvl1pPr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endParaRPr lang="ru-RU" altLang="ru-RU" sz="500" b="1" dirty="0" smtClean="0">
              <a:latin typeface="Arial" panose="020B0604020202020204" pitchFamily="34" charset="0"/>
            </a:endParaRPr>
          </a:p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Arial" panose="020B0604020202020204" pitchFamily="34" charset="0"/>
              </a:rPr>
              <a:t>Интеграция опера</a:t>
            </a:r>
            <a:r>
              <a:rPr lang="ru-RU" altLang="ru-RU" sz="500" b="1" dirty="0">
                <a:latin typeface="Arial" panose="020B0604020202020204" pitchFamily="34" charset="0"/>
              </a:rPr>
              <a:t>ц</a:t>
            </a:r>
            <a:r>
              <a:rPr lang="ru-RU" altLang="ru-RU" sz="500" b="1" dirty="0" smtClean="0">
                <a:latin typeface="Arial" panose="020B0604020202020204" pitchFamily="34" charset="0"/>
              </a:rPr>
              <a:t>ии в </a:t>
            </a:r>
            <a:r>
              <a:rPr lang="en-US" altLang="ru-RU" sz="500" b="1" dirty="0" smtClean="0">
                <a:latin typeface="Arial" panose="020B0604020202020204" pitchFamily="34" charset="0"/>
              </a:rPr>
              <a:t>SAP</a:t>
            </a:r>
            <a:endParaRPr lang="en-US" altLang="ru-RU" sz="500" b="1" dirty="0">
              <a:latin typeface="Arial" panose="020B0604020202020204" pitchFamily="34" charset="0"/>
            </a:endParaRPr>
          </a:p>
        </p:txBody>
      </p:sp>
      <p:sp>
        <p:nvSpPr>
          <p:cNvPr id="112" name="Rectangle 16597"/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3157675" y="5545326"/>
            <a:ext cx="258995" cy="82507"/>
          </a:xfrm>
          <a:prstGeom prst="rect">
            <a:avLst/>
          </a:prstGeom>
          <a:solidFill>
            <a:schemeClr val="accent2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67318" tIns="18000" rIns="67318" bIns="35006"/>
          <a:lstStyle>
            <a:lvl1pPr marL="34925" indent="-34925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defTabSz="682625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defTabSz="682625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ru-RU" altLang="ru-RU" sz="500" b="1" dirty="0" smtClean="0">
                <a:latin typeface="+mn-lt"/>
              </a:rPr>
              <a:t>Авто</a:t>
            </a:r>
            <a:endParaRPr lang="en-US" altLang="ru-RU" sz="500" b="1" dirty="0">
              <a:latin typeface="+mn-lt"/>
            </a:endParaRPr>
          </a:p>
        </p:txBody>
      </p:sp>
      <p:cxnSp>
        <p:nvCxnSpPr>
          <p:cNvPr id="113" name="Прямая со стрелкой 112"/>
          <p:cNvCxnSpPr>
            <a:stCxn id="55" idx="3"/>
            <a:endCxn id="91" idx="1"/>
          </p:cNvCxnSpPr>
          <p:nvPr/>
        </p:nvCxnSpPr>
        <p:spPr>
          <a:xfrm>
            <a:off x="2787248" y="3831880"/>
            <a:ext cx="370427" cy="11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 стрелкой 114"/>
          <p:cNvCxnSpPr>
            <a:stCxn id="61" idx="3"/>
            <a:endCxn id="96" idx="1"/>
          </p:cNvCxnSpPr>
          <p:nvPr/>
        </p:nvCxnSpPr>
        <p:spPr>
          <a:xfrm flipV="1">
            <a:off x="2787162" y="4366733"/>
            <a:ext cx="37321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Прямая со стрелкой 115"/>
          <p:cNvCxnSpPr>
            <a:stCxn id="104" idx="3"/>
            <a:endCxn id="98" idx="1"/>
          </p:cNvCxnSpPr>
          <p:nvPr/>
        </p:nvCxnSpPr>
        <p:spPr>
          <a:xfrm flipV="1">
            <a:off x="2795780" y="4913384"/>
            <a:ext cx="36189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Прямая со стрелкой 116"/>
          <p:cNvCxnSpPr>
            <a:stCxn id="107" idx="3"/>
            <a:endCxn id="102" idx="1"/>
          </p:cNvCxnSpPr>
          <p:nvPr/>
        </p:nvCxnSpPr>
        <p:spPr>
          <a:xfrm flipV="1">
            <a:off x="2795780" y="5447652"/>
            <a:ext cx="36189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AutoShape 19"/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 flipH="1" flipV="1">
            <a:off x="3157675" y="2497164"/>
            <a:ext cx="792162" cy="347950"/>
          </a:xfrm>
          <a:prstGeom prst="wedgeRectCallout">
            <a:avLst>
              <a:gd name="adj1" fmla="val -49971"/>
              <a:gd name="adj2" fmla="val -130057"/>
            </a:avLst>
          </a:prstGeom>
          <a:solidFill>
            <a:srgbClr val="FFFFFF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rot="10800000" lIns="18000" tIns="18000" rIns="18000" bIns="18000" anchor="ctr" anchorCtr="1"/>
          <a:lstStyle>
            <a:lvl1pPr marL="46038" indent="-46038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algn="ctr" eaLnBrk="1" hangingPunct="1"/>
            <a:r>
              <a:rPr lang="ru-RU" altLang="ru-RU" sz="500" dirty="0" smtClean="0">
                <a:latin typeface="Arial" panose="020B0604020202020204" pitchFamily="34" charset="0"/>
              </a:rPr>
              <a:t>Требуется доработка интеграции с </a:t>
            </a:r>
            <a:r>
              <a:rPr lang="en-US" altLang="ru-RU" sz="500" dirty="0" smtClean="0">
                <a:latin typeface="Arial" panose="020B0604020202020204" pitchFamily="34" charset="0"/>
              </a:rPr>
              <a:t>SAP </a:t>
            </a:r>
            <a:endParaRPr lang="en-US" altLang="ru-RU" sz="500" dirty="0">
              <a:latin typeface="Arial" panose="020B0604020202020204" pitchFamily="34" charset="0"/>
            </a:endParaRPr>
          </a:p>
        </p:txBody>
      </p:sp>
      <p:sp>
        <p:nvSpPr>
          <p:cNvPr id="79" name="Прямоугольник 78"/>
          <p:cNvSpPr/>
          <p:nvPr/>
        </p:nvSpPr>
        <p:spPr>
          <a:xfrm>
            <a:off x="6591300" y="1193145"/>
            <a:ext cx="139700" cy="107600"/>
          </a:xfrm>
          <a:prstGeom prst="rect">
            <a:avLst/>
          </a:prstGeom>
          <a:pattFill prst="ltDnDiag">
            <a:fgClr>
              <a:srgbClr val="FEDF5C"/>
            </a:fgClr>
            <a:bgClr>
              <a:srgbClr val="FFFFFF"/>
            </a:bgClr>
          </a:patt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/>
          <a:p>
            <a:pPr algn="ctr" defTabSz="682625">
              <a:lnSpc>
                <a:spcPct val="80000"/>
              </a:lnSpc>
            </a:pPr>
            <a:endParaRPr lang="ru-RU" sz="500" b="1">
              <a:solidFill>
                <a:schemeClr val="tx1"/>
              </a:solidFill>
              <a:latin typeface="Arial" panose="020B0604020202020204" pitchFamily="34" charset="0"/>
              <a:ea typeface="Arial Unicode MS" pitchFamily="34" charset="-128"/>
            </a:endParaRPr>
          </a:p>
        </p:txBody>
      </p:sp>
      <p:sp>
        <p:nvSpPr>
          <p:cNvPr id="84" name="Прямоугольник 83"/>
          <p:cNvSpPr/>
          <p:nvPr/>
        </p:nvSpPr>
        <p:spPr>
          <a:xfrm>
            <a:off x="6591300" y="1338735"/>
            <a:ext cx="139700" cy="107600"/>
          </a:xfrm>
          <a:prstGeom prst="rect">
            <a:avLst/>
          </a:prstGeom>
          <a:solidFill>
            <a:srgbClr val="FEDF5C"/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/>
          <a:p>
            <a:pPr algn="ctr" defTabSz="682625">
              <a:lnSpc>
                <a:spcPct val="80000"/>
              </a:lnSpc>
            </a:pPr>
            <a:endParaRPr lang="ru-RU" sz="500" b="1">
              <a:latin typeface="Arial Unicode MS" pitchFamily="34" charset="-128"/>
              <a:ea typeface="Arial Unicode MS" pitchFamily="34" charset="-128"/>
            </a:endParaRPr>
          </a:p>
        </p:txBody>
      </p:sp>
      <p:sp>
        <p:nvSpPr>
          <p:cNvPr id="85" name="Прямоугольник 84"/>
          <p:cNvSpPr/>
          <p:nvPr/>
        </p:nvSpPr>
        <p:spPr>
          <a:xfrm>
            <a:off x="6591300" y="1502139"/>
            <a:ext cx="139700" cy="107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 algn="ctr">
            <a:solidFill>
              <a:schemeClr val="tx1"/>
            </a:solidFill>
            <a:miter lim="800000"/>
            <a:headEnd/>
            <a:tailEnd/>
          </a:ln>
        </p:spPr>
        <p:txBody>
          <a:bodyPr lIns="67318" tIns="35006" rIns="67318" bIns="35006"/>
          <a:lstStyle/>
          <a:p>
            <a:pPr algn="ctr" defTabSz="682625">
              <a:lnSpc>
                <a:spcPct val="80000"/>
              </a:lnSpc>
            </a:pPr>
            <a:endParaRPr lang="ru-RU" sz="500" b="1">
              <a:latin typeface="Arial" panose="020B0604020202020204" pitchFamily="34" charset="0"/>
              <a:ea typeface="Arial Unicode MS" pitchFamily="34" charset="-128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731000" y="1155155"/>
            <a:ext cx="215475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ru-RU" sz="500" dirty="0" smtClean="0"/>
              <a:t>Внесистемный процесс</a:t>
            </a:r>
          </a:p>
          <a:p>
            <a:pPr marL="171450" indent="-171450">
              <a:buFontTx/>
              <a:buChar char="-"/>
            </a:pPr>
            <a:endParaRPr lang="ru-RU" sz="500" dirty="0"/>
          </a:p>
          <a:p>
            <a:pPr marL="171450" indent="-171450">
              <a:buFontTx/>
              <a:buChar char="-"/>
            </a:pPr>
            <a:r>
              <a:rPr lang="ru-RU" sz="500" dirty="0" smtClean="0"/>
              <a:t>Система </a:t>
            </a:r>
            <a:r>
              <a:rPr lang="en-US" sz="500" dirty="0" smtClean="0"/>
              <a:t>AMOS</a:t>
            </a:r>
          </a:p>
          <a:p>
            <a:pPr marL="171450" indent="-171450">
              <a:buFontTx/>
              <a:buChar char="-"/>
            </a:pPr>
            <a:endParaRPr lang="en-US" sz="500" dirty="0" smtClean="0"/>
          </a:p>
          <a:p>
            <a:pPr marL="171450" indent="-171450">
              <a:buFontTx/>
              <a:buChar char="-"/>
            </a:pPr>
            <a:r>
              <a:rPr lang="ru-RU" sz="500" dirty="0" smtClean="0"/>
              <a:t>Система </a:t>
            </a:r>
            <a:r>
              <a:rPr lang="en-US" sz="500" dirty="0" smtClean="0"/>
              <a:t>SAP ERP</a:t>
            </a:r>
            <a:endParaRPr lang="ru-RU" sz="500" dirty="0" smtClean="0"/>
          </a:p>
          <a:p>
            <a:pPr marL="171450" indent="-171450">
              <a:buFontTx/>
              <a:buChar char="-"/>
            </a:pPr>
            <a:endParaRPr lang="ru-RU" sz="500" dirty="0"/>
          </a:p>
          <a:p>
            <a:pPr marL="171450" indent="-171450">
              <a:buFontTx/>
              <a:buChar char="-"/>
            </a:pPr>
            <a:endParaRPr lang="ru-RU" sz="500" dirty="0" smtClean="0"/>
          </a:p>
          <a:p>
            <a:pPr marL="171450" indent="-171450">
              <a:buFontTx/>
              <a:buChar char="-"/>
            </a:pPr>
            <a:r>
              <a:rPr lang="ru-RU" sz="500" dirty="0" smtClean="0"/>
              <a:t>Процесс </a:t>
            </a:r>
            <a:r>
              <a:rPr lang="ru-RU" sz="500" dirty="0"/>
              <a:t>отправки инструмента в ремонт внешнему поставщику.</a:t>
            </a:r>
          </a:p>
          <a:p>
            <a:pPr marL="171450" indent="-171450">
              <a:buFontTx/>
              <a:buChar char="-"/>
            </a:pPr>
            <a:endParaRPr lang="ru-RU" sz="500" dirty="0"/>
          </a:p>
        </p:txBody>
      </p:sp>
      <p:sp>
        <p:nvSpPr>
          <p:cNvPr id="88" name="TextBox 87"/>
          <p:cNvSpPr txBox="1"/>
          <p:nvPr/>
        </p:nvSpPr>
        <p:spPr>
          <a:xfrm>
            <a:off x="6661150" y="1006475"/>
            <a:ext cx="47801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" dirty="0" smtClean="0"/>
              <a:t>Легенда:</a:t>
            </a:r>
            <a:endParaRPr lang="ru-RU" sz="500" dirty="0"/>
          </a:p>
        </p:txBody>
      </p:sp>
    </p:spTree>
    <p:extLst>
      <p:ext uri="{BB962C8B-B14F-4D97-AF65-F5344CB8AC3E}">
        <p14:creationId xmlns:p14="http://schemas.microsoft.com/office/powerpoint/2010/main" val="24580683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dDSvStzzEqzTxe2g5yu4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qVmrsq0kKdG1ZzZPXht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qVmrsq0kKdG1ZzZPXht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jnLjtOqFECWjp6CFrcZq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qVmrsq0kKdG1ZzZPXht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qVmrsq0kKdG1ZzZPXht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qVmrsq0kKdG1ZzZPXht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jnLjtOqFECWjp6CFrcZq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ge8xfnhDUynwgHE9RieO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gZdlrXpB0e2NQtvp9XWv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gZdlrXpB0e2NQtvp9XWv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qVmrsq0kKdG1ZzZPXht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qVmrsq0kKdG1ZzZPXht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qVmrsq0kKdG1ZzZPXht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ge8xfnhDUynwgHE9RieO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qVmrsq0kKdG1ZzZPXht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qVmrsq0kKdG1ZzZPXht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qVmrsq0kKdG1ZzZPXht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ge8xfnhDUynwgHE9RieO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qVmrsq0kKdG1ZzZPXhtA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ge8xfnhDUynwgHE9RieO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qVmrsq0kKdG1ZzZPXht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qVmrsq0kKdG1ZzZPXht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jnLjtOqFECWjp6CFrcZq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jnLjtOqFECWjp6CFrcZq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jnLjtOqFECWjp6CFrcZq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qVmrsq0kKdG1ZzZPXht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qVmrsq0kKdG1ZzZPXht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dDSvStzzEqzTxe2g5yu4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qVmrsq0kKdG1ZzZPXhtA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qVmrsq0kKdG1ZzZPXht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jnLjtOqFECWjp6CFrcZq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jnLjtOqFECWjp6CFrcZq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qVmrsq0kKdG1ZzZPXht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qVmrsq0kKdG1ZzZPXht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qVmrsq0kKdG1ZzZPXht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qVmrsq0kKdG1ZzZPXht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qVmrsq0kKdG1ZzZPXht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qVmrsq0kKdG1ZzZPXht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ge8xfnhDUynwgHE9RieOw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jnLjtOqFECWjp6CFrcZqw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ge8xfnhDUynwgHE9RieO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qVmrsq0kKdG1ZzZPXht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qVmrsq0kKdG1ZzZPXht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qVmrsq0kKdG1ZzZPXht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6qVmrsq0kKdG1ZzZPXht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TqbnEM98kiczvNe_rqiJQ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jnLjtOqFECWjp6CFrcZqw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1529</TotalTime>
  <Words>429</Words>
  <Application>Microsoft Office PowerPoint</Application>
  <PresentationFormat>Широкоэкранный</PresentationFormat>
  <Paragraphs>161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8" baseType="lpstr">
      <vt:lpstr>Arial</vt:lpstr>
      <vt:lpstr>Arial Narrow</vt:lpstr>
      <vt:lpstr>Arial Unicode MS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Windows User</dc:creator>
  <cp:lastModifiedBy>Windows User</cp:lastModifiedBy>
  <cp:revision>60</cp:revision>
  <dcterms:created xsi:type="dcterms:W3CDTF">2019-08-28T07:56:53Z</dcterms:created>
  <dcterms:modified xsi:type="dcterms:W3CDTF">2019-08-30T08:34:49Z</dcterms:modified>
</cp:coreProperties>
</file>